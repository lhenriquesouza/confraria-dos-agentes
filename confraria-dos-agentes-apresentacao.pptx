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5.png" ContentType="image/png"/>
  <Override PartName="/ppt/media/image9.png" ContentType="image/png"/>
  <Override PartName="/ppt/media/image20.png" ContentType="image/png"/>
  <Override PartName="/ppt/media/image18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32.png" ContentType="image/png"/>
  <Override PartName="/ppt/media/image40.png" ContentType="image/png"/>
  <Override PartName="/ppt/media/image41.png" ContentType="image/png"/>
  <Override PartName="/ppt/media/image30.png" ContentType="image/png"/>
  <Override PartName="/ppt/media/image42.png" ContentType="image/png"/>
  <Override PartName="/ppt/media/image31.png" ContentType="image/png"/>
  <Override PartName="/ppt/media/image43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38.png" ContentType="image/png"/>
  <Override PartName="/ppt/media/image6.png" ContentType="image/png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pc="-1" strike="noStrike">
                <a:solidFill>
                  <a:srgbClr val="1b1f3b"/>
                </a:solidFill>
                <a:latin typeface="Calibri"/>
              </a:defRPr>
            </a:pPr>
            <a:r>
              <a:rPr b="0" sz="1300" spc="-1" strike="noStrike">
                <a:solidFill>
                  <a:srgbClr val="1b1f3b"/>
                </a:solidFill>
                <a:latin typeface="Calibri"/>
              </a:rPr>
              <a:t>Custo por milhão de tokens de saída (US$)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Output $/M tokens (OpenRouter)</c:v>
                </c:pt>
              </c:strCache>
            </c:strRef>
          </c:tx>
          <c:spPr>
            <a:solidFill>
              <a:srgbClr val="00c2a8"/>
            </a:solidFill>
            <a:ln w="0">
              <a:noFill/>
            </a:ln>
          </c:spPr>
          <c:invertIfNegative val="0"/>
          <c:dLbls>
            <c:numFmt formatCode="0.00" sourceLinked="0"/>
            <c:txPr>
              <a:bodyPr wrap="square"/>
              <a:lstStyle/>
              <a:p>
                <a:pPr>
                  <a:defRPr b="0" sz="1000" spc="-1" strike="noStrike">
                    <a:solidFill>
                      <a:srgbClr val="20223d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DeepSeek V4 Pro</c:v>
                </c:pt>
                <c:pt idx="1">
                  <c:v>GLM 5.2</c:v>
                </c:pt>
                <c:pt idx="2">
                  <c:v>Claude Sonnet 4.6</c:v>
                </c:pt>
                <c:pt idx="3">
                  <c:v>Claude Opus 4.8</c:v>
                </c:pt>
                <c:pt idx="4">
                  <c:v>Claude Fable 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0.87</c:v>
                </c:pt>
                <c:pt idx="1">
                  <c:v>2.86</c:v>
                </c:pt>
                <c:pt idx="2">
                  <c:v>15</c:v>
                </c:pt>
                <c:pt idx="3">
                  <c:v>25</c:v>
                </c:pt>
                <c:pt idx="4">
                  <c:v>50</c:v>
                </c:pt>
              </c:numCache>
            </c:numRef>
          </c:val>
        </c:ser>
        <c:gapWidth val="40"/>
        <c:overlap val="0"/>
        <c:axId val="48852866"/>
        <c:axId val="88385083"/>
      </c:barChart>
      <c:catAx>
        <c:axId val="4885286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20223d"/>
                </a:solidFill>
                <a:latin typeface="Arial"/>
              </a:defRPr>
            </a:pPr>
          </a:p>
        </c:txPr>
        <c:crossAx val="88385083"/>
        <c:crosses val="autoZero"/>
        <c:auto val="1"/>
        <c:lblAlgn val="ctr"/>
        <c:lblOffset val="100"/>
        <c:noMultiLvlLbl val="0"/>
      </c:catAx>
      <c:valAx>
        <c:axId val="88385083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48852866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ECFF226-66D7-4B3E-B7AA-35D44AF24EA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6785F1-ED2A-4860-A240-52C2DBCCFB2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C907DB-021D-4D75-9E09-3AEDD6D3C9D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59F4B5-DF1C-4D37-BBF7-EED4391C616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A43188-E7AA-4EC1-9938-76D37CFADD5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850949-184D-4966-A23C-2F91286EA72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B98033-9731-4277-8C85-3A606CA640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9BBC45-AE9F-40EC-856D-483F62D2E1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E11F15-5ABD-4695-A168-032C9411F1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500170-D6EE-427B-89DC-8BB231D41D1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456252-C51B-47B9-855B-DF9DB28E7C1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9E27B3-7310-44A9-B320-FCD9A3C7EF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0CE2A7-B35D-4385-BC6A-AC1C442D1C1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12A00B-5528-4158-AC39-00DE909877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D54653-4FF5-4FA6-8530-39F4698454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73B03F-8538-4474-835A-6D2C924353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B0D1CE-18DF-4614-B500-C9480DDB72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354969-93E3-47C5-B2FC-19FACFA7A35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AC424A-8EE9-49B9-9F84-28216A09BC2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EB6E50-EF31-42CD-8043-F9ED640031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7.png"/><Relationship Id="rId10" Type="http://schemas.openxmlformats.org/officeDocument/2006/relationships/image" Target="../media/image7.png"/><Relationship Id="rId11" Type="http://schemas.openxmlformats.org/officeDocument/2006/relationships/image" Target="../media/image10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14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22.png"/><Relationship Id="rId3" Type="http://schemas.openxmlformats.org/officeDocument/2006/relationships/image" Target="../media/image31.png"/><Relationship Id="rId4" Type="http://schemas.openxmlformats.org/officeDocument/2006/relationships/image" Target="../media/image18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13.png"/><Relationship Id="rId3" Type="http://schemas.openxmlformats.org/officeDocument/2006/relationships/image" Target="../media/image40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2.png"/><Relationship Id="rId3" Type="http://schemas.openxmlformats.org/officeDocument/2006/relationships/image" Target="../media/image37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31.png"/><Relationship Id="rId9" Type="http://schemas.openxmlformats.org/officeDocument/2006/relationships/image" Target="../media/image4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778240" y="-1463040"/>
            <a:ext cx="5120280" cy="5120280"/>
          </a:xfrm>
          <a:prstGeom prst="ellipse">
            <a:avLst/>
          </a:prstGeom>
          <a:solidFill>
            <a:srgbClr val="24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424160" y="4206240"/>
            <a:ext cx="3108600" cy="3108600"/>
          </a:xfrm>
          <a:prstGeom prst="ellipse">
            <a:avLst/>
          </a:prstGeom>
          <a:solidFill>
            <a:srgbClr val="24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777240" y="2331720"/>
            <a:ext cx="1005480" cy="1005480"/>
          </a:xfrm>
          <a:prstGeom prst="rect">
            <a:avLst/>
          </a:prstGeom>
          <a:ln w="0">
            <a:noFill/>
          </a:ln>
        </p:spPr>
      </p:pic>
      <p:sp>
        <p:nvSpPr>
          <p:cNvPr id="11" name="Text 2"/>
          <p:cNvSpPr/>
          <p:nvPr/>
        </p:nvSpPr>
        <p:spPr>
          <a:xfrm>
            <a:off x="731520" y="3429000"/>
            <a:ext cx="9600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mbria"/>
                <a:ea typeface="Cambria"/>
              </a:rPr>
              <a:t>CONFRARIA DOS AGENTES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731520" y="434340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c7cbe8"/>
                </a:solidFill>
                <a:latin typeface="Calibri"/>
                <a:ea typeface="Calibri"/>
              </a:rPr>
              <a:t>Workshop prático de agentes de IA — do LLM ao agente autônomo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731520" y="603504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c2a8"/>
                </a:solidFill>
                <a:latin typeface="Calibri"/>
                <a:ea typeface="Calibri"/>
              </a:rPr>
              <a:t>9h às 17h50  ·  Formato presencial  ·  Hermes Agent + OpenWebUI + OpenRouter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640080" y="457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00c2a8"/>
                </a:solidFill>
                <a:latin typeface="Calibri"/>
                <a:ea typeface="Calibri"/>
              </a:rPr>
              <a:t>SUMÁRIO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40080" y="777240"/>
            <a:ext cx="1091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1f3b"/>
                </a:solidFill>
                <a:latin typeface="Cambria"/>
                <a:ea typeface="Cambria"/>
              </a:rPr>
              <a:t>Agenda do dia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40080" y="1572840"/>
            <a:ext cx="8683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4a"/>
                </a:solidFill>
                <a:latin typeface="Calibri"/>
                <a:ea typeface="Calibri"/>
              </a:rPr>
              <a:t>09:00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1600200" y="1593360"/>
            <a:ext cx="365400" cy="365400"/>
          </a:xfrm>
          <a:prstGeom prst="ellipse">
            <a:avLst/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" name="Image 0" descr="preencoded.png"/>
          <p:cNvPicPr/>
          <p:nvPr/>
        </p:nvPicPr>
        <p:blipFill>
          <a:blip r:embed="rId1"/>
          <a:stretch/>
        </p:blipFill>
        <p:spPr>
          <a:xfrm>
            <a:off x="1636920" y="16300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9" name="Text 4"/>
          <p:cNvSpPr/>
          <p:nvPr/>
        </p:nvSpPr>
        <p:spPr>
          <a:xfrm>
            <a:off x="2148840" y="1572840"/>
            <a:ext cx="93265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0223d"/>
                </a:solidFill>
                <a:latin typeface="Calibri"/>
                <a:ea typeface="Calibri"/>
              </a:rPr>
              <a:t>Módulo 1 — Aquecimento: ferramentas Google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640080" y="1979640"/>
            <a:ext cx="8683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4a"/>
                </a:solidFill>
                <a:latin typeface="Calibri"/>
                <a:ea typeface="Calibri"/>
              </a:rPr>
              <a:t>09:25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1600200" y="2000160"/>
            <a:ext cx="365400" cy="365400"/>
          </a:xfrm>
          <a:prstGeom prst="ellipse">
            <a:avLst/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Image 1" descr="preencoded.png"/>
          <p:cNvPicPr/>
          <p:nvPr/>
        </p:nvPicPr>
        <p:blipFill>
          <a:blip r:embed="rId2"/>
          <a:stretch/>
        </p:blipFill>
        <p:spPr>
          <a:xfrm>
            <a:off x="1636920" y="20368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23" name="Text 7"/>
          <p:cNvSpPr/>
          <p:nvPr/>
        </p:nvSpPr>
        <p:spPr>
          <a:xfrm>
            <a:off x="2148840" y="1979640"/>
            <a:ext cx="93265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0223d"/>
                </a:solidFill>
                <a:latin typeface="Calibri"/>
                <a:ea typeface="Calibri"/>
              </a:rPr>
              <a:t>Módulo 2 — Modelos de linguagem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640080" y="2386440"/>
            <a:ext cx="8683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4a"/>
                </a:solidFill>
                <a:latin typeface="Calibri"/>
                <a:ea typeface="Calibri"/>
              </a:rPr>
              <a:t>10:25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1600200" y="2407320"/>
            <a:ext cx="365400" cy="365400"/>
          </a:xfrm>
          <a:prstGeom prst="ellipse">
            <a:avLst/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" name="Image 2" descr="preencoded.png"/>
          <p:cNvPicPr/>
          <p:nvPr/>
        </p:nvPicPr>
        <p:blipFill>
          <a:blip r:embed="rId3"/>
          <a:stretch/>
        </p:blipFill>
        <p:spPr>
          <a:xfrm>
            <a:off x="1636920" y="24436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27" name="Text 10"/>
          <p:cNvSpPr/>
          <p:nvPr/>
        </p:nvSpPr>
        <p:spPr>
          <a:xfrm>
            <a:off x="2148840" y="2386440"/>
            <a:ext cx="93265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0223d"/>
                </a:solidFill>
                <a:latin typeface="Calibri"/>
                <a:ea typeface="Calibri"/>
              </a:rPr>
              <a:t>Módulo 3 — Harness: o corpo do agente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640080" y="2793600"/>
            <a:ext cx="8683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4a"/>
                </a:solidFill>
                <a:latin typeface="Calibri"/>
                <a:ea typeface="Calibri"/>
              </a:rPr>
              <a:t>10:55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1600200" y="2814120"/>
            <a:ext cx="365400" cy="365400"/>
          </a:xfrm>
          <a:prstGeom prst="ellipse">
            <a:avLst/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" name="Image 3" descr="preencoded.png"/>
          <p:cNvPicPr/>
          <p:nvPr/>
        </p:nvPicPr>
        <p:blipFill>
          <a:blip r:embed="rId4"/>
          <a:stretch/>
        </p:blipFill>
        <p:spPr>
          <a:xfrm>
            <a:off x="1636920" y="28504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31" name="Text 13"/>
          <p:cNvSpPr/>
          <p:nvPr/>
        </p:nvSpPr>
        <p:spPr>
          <a:xfrm>
            <a:off x="2148840" y="2793600"/>
            <a:ext cx="93265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0223d"/>
                </a:solidFill>
                <a:latin typeface="Calibri"/>
                <a:ea typeface="Calibri"/>
              </a:rPr>
              <a:t>Módulo 4 — Coleta de credenciais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640080" y="3200400"/>
            <a:ext cx="8683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4a"/>
                </a:solidFill>
                <a:latin typeface="Calibri"/>
                <a:ea typeface="Calibri"/>
              </a:rPr>
              <a:t>11:15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5"/>
          <p:cNvSpPr/>
          <p:nvPr/>
        </p:nvSpPr>
        <p:spPr>
          <a:xfrm>
            <a:off x="1600200" y="3220920"/>
            <a:ext cx="365400" cy="365400"/>
          </a:xfrm>
          <a:prstGeom prst="ellipse">
            <a:avLst/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" name="Image 4" descr="preencoded.png"/>
          <p:cNvPicPr/>
          <p:nvPr/>
        </p:nvPicPr>
        <p:blipFill>
          <a:blip r:embed="rId5"/>
          <a:stretch/>
        </p:blipFill>
        <p:spPr>
          <a:xfrm>
            <a:off x="1636920" y="32576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35" name="Text 16"/>
          <p:cNvSpPr/>
          <p:nvPr/>
        </p:nvSpPr>
        <p:spPr>
          <a:xfrm>
            <a:off x="2148840" y="3200400"/>
            <a:ext cx="93265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0223d"/>
                </a:solidFill>
                <a:latin typeface="Calibri"/>
                <a:ea typeface="Calibri"/>
              </a:rPr>
              <a:t>Módulo 5 — Setup + Cobrinha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640080" y="3607200"/>
            <a:ext cx="8683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4a"/>
                </a:solidFill>
                <a:latin typeface="Calibri"/>
                <a:ea typeface="Calibri"/>
              </a:rPr>
              <a:t>13:00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8"/>
          <p:cNvSpPr/>
          <p:nvPr/>
        </p:nvSpPr>
        <p:spPr>
          <a:xfrm>
            <a:off x="1600200" y="3627720"/>
            <a:ext cx="365400" cy="365400"/>
          </a:xfrm>
          <a:prstGeom prst="ellipse">
            <a:avLst/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" name="Image 5" descr="preencoded.png"/>
          <p:cNvPicPr/>
          <p:nvPr/>
        </p:nvPicPr>
        <p:blipFill>
          <a:blip r:embed="rId6"/>
          <a:stretch/>
        </p:blipFill>
        <p:spPr>
          <a:xfrm>
            <a:off x="1636920" y="36644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39" name="Text 19"/>
          <p:cNvSpPr/>
          <p:nvPr/>
        </p:nvSpPr>
        <p:spPr>
          <a:xfrm>
            <a:off x="2148840" y="3607200"/>
            <a:ext cx="93265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0223d"/>
                </a:solidFill>
                <a:latin typeface="Calibri"/>
                <a:ea typeface="Calibri"/>
              </a:rPr>
              <a:t>Almoço (1h30)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640080" y="4014360"/>
            <a:ext cx="8683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4a"/>
                </a:solidFill>
                <a:latin typeface="Calibri"/>
                <a:ea typeface="Calibri"/>
              </a:rPr>
              <a:t>14:30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21"/>
          <p:cNvSpPr/>
          <p:nvPr/>
        </p:nvSpPr>
        <p:spPr>
          <a:xfrm>
            <a:off x="1600200" y="4034880"/>
            <a:ext cx="365400" cy="365400"/>
          </a:xfrm>
          <a:prstGeom prst="ellipse">
            <a:avLst/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" name="Image 6" descr="preencoded.png"/>
          <p:cNvPicPr/>
          <p:nvPr/>
        </p:nvPicPr>
        <p:blipFill>
          <a:blip r:embed="rId7"/>
          <a:stretch/>
        </p:blipFill>
        <p:spPr>
          <a:xfrm>
            <a:off x="1636920" y="40712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43" name="Text 22"/>
          <p:cNvSpPr/>
          <p:nvPr/>
        </p:nvSpPr>
        <p:spPr>
          <a:xfrm>
            <a:off x="2148840" y="4014360"/>
            <a:ext cx="93265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0223d"/>
                </a:solidFill>
                <a:latin typeface="Calibri"/>
                <a:ea typeface="Calibri"/>
              </a:rPr>
              <a:t>Módulo 6 — Skills + /goal + /delegate_task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23"/>
          <p:cNvSpPr/>
          <p:nvPr/>
        </p:nvSpPr>
        <p:spPr>
          <a:xfrm>
            <a:off x="640080" y="4421160"/>
            <a:ext cx="8683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4a"/>
                </a:solidFill>
                <a:latin typeface="Calibri"/>
                <a:ea typeface="Calibri"/>
              </a:rPr>
              <a:t>16:30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24"/>
          <p:cNvSpPr/>
          <p:nvPr/>
        </p:nvSpPr>
        <p:spPr>
          <a:xfrm>
            <a:off x="1600200" y="4441680"/>
            <a:ext cx="365400" cy="365400"/>
          </a:xfrm>
          <a:prstGeom prst="ellipse">
            <a:avLst/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" name="Image 7" descr="preencoded.png"/>
          <p:cNvPicPr/>
          <p:nvPr/>
        </p:nvPicPr>
        <p:blipFill>
          <a:blip r:embed="rId8"/>
          <a:stretch/>
        </p:blipFill>
        <p:spPr>
          <a:xfrm>
            <a:off x="1636920" y="447840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47" name="Text 25"/>
          <p:cNvSpPr/>
          <p:nvPr/>
        </p:nvSpPr>
        <p:spPr>
          <a:xfrm>
            <a:off x="2148840" y="4421160"/>
            <a:ext cx="93265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0223d"/>
                </a:solidFill>
                <a:latin typeface="Calibri"/>
                <a:ea typeface="Calibri"/>
              </a:rPr>
              <a:t>Módulo 7 — MCP: agentes conectados ao mundo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6"/>
          <p:cNvSpPr/>
          <p:nvPr/>
        </p:nvSpPr>
        <p:spPr>
          <a:xfrm>
            <a:off x="640080" y="4827960"/>
            <a:ext cx="8683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4a"/>
                </a:solidFill>
                <a:latin typeface="Calibri"/>
                <a:ea typeface="Calibri"/>
              </a:rPr>
              <a:t>16:55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7"/>
          <p:cNvSpPr/>
          <p:nvPr/>
        </p:nvSpPr>
        <p:spPr>
          <a:xfrm>
            <a:off x="1600200" y="4848480"/>
            <a:ext cx="365400" cy="365400"/>
          </a:xfrm>
          <a:prstGeom prst="ellipse">
            <a:avLst/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" name="Image 8" descr="preencoded.png"/>
          <p:cNvPicPr/>
          <p:nvPr/>
        </p:nvPicPr>
        <p:blipFill>
          <a:blip r:embed="rId9"/>
          <a:stretch/>
        </p:blipFill>
        <p:spPr>
          <a:xfrm>
            <a:off x="1636920" y="488520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51" name="Text 28"/>
          <p:cNvSpPr/>
          <p:nvPr/>
        </p:nvSpPr>
        <p:spPr>
          <a:xfrm>
            <a:off x="2148840" y="4827960"/>
            <a:ext cx="93265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0223d"/>
                </a:solidFill>
                <a:latin typeface="Calibri"/>
                <a:ea typeface="Calibri"/>
              </a:rPr>
              <a:t>Intervalo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9"/>
          <p:cNvSpPr/>
          <p:nvPr/>
        </p:nvSpPr>
        <p:spPr>
          <a:xfrm>
            <a:off x="640080" y="5235120"/>
            <a:ext cx="8683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4a"/>
                </a:solidFill>
                <a:latin typeface="Calibri"/>
                <a:ea typeface="Calibri"/>
              </a:rPr>
              <a:t>17:05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30"/>
          <p:cNvSpPr/>
          <p:nvPr/>
        </p:nvSpPr>
        <p:spPr>
          <a:xfrm>
            <a:off x="1600200" y="5255640"/>
            <a:ext cx="365400" cy="365400"/>
          </a:xfrm>
          <a:prstGeom prst="ellipse">
            <a:avLst/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4" name="Image 9" descr="preencoded.png"/>
          <p:cNvPicPr/>
          <p:nvPr/>
        </p:nvPicPr>
        <p:blipFill>
          <a:blip r:embed="rId10"/>
          <a:stretch/>
        </p:blipFill>
        <p:spPr>
          <a:xfrm>
            <a:off x="1636920" y="529200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55" name="Text 31"/>
          <p:cNvSpPr/>
          <p:nvPr/>
        </p:nvSpPr>
        <p:spPr>
          <a:xfrm>
            <a:off x="2148840" y="5235120"/>
            <a:ext cx="93265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0223d"/>
                </a:solidFill>
                <a:latin typeface="Calibri"/>
                <a:ea typeface="Calibri"/>
              </a:rPr>
              <a:t>Módulo 8 — Autonomia: cron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32"/>
          <p:cNvSpPr/>
          <p:nvPr/>
        </p:nvSpPr>
        <p:spPr>
          <a:xfrm>
            <a:off x="640080" y="5641920"/>
            <a:ext cx="8683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4a"/>
                </a:solidFill>
                <a:latin typeface="Calibri"/>
                <a:ea typeface="Calibri"/>
              </a:rPr>
              <a:t>17:35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3"/>
          <p:cNvSpPr/>
          <p:nvPr/>
        </p:nvSpPr>
        <p:spPr>
          <a:xfrm>
            <a:off x="1600200" y="5662440"/>
            <a:ext cx="365400" cy="365400"/>
          </a:xfrm>
          <a:prstGeom prst="ellipse">
            <a:avLst/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" name="Image 10" descr="preencoded.png"/>
          <p:cNvPicPr/>
          <p:nvPr/>
        </p:nvPicPr>
        <p:blipFill>
          <a:blip r:embed="rId11"/>
          <a:stretch/>
        </p:blipFill>
        <p:spPr>
          <a:xfrm>
            <a:off x="1636920" y="56991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59" name="Text 34"/>
          <p:cNvSpPr/>
          <p:nvPr/>
        </p:nvSpPr>
        <p:spPr>
          <a:xfrm>
            <a:off x="2148840" y="5641920"/>
            <a:ext cx="93265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0223d"/>
                </a:solidFill>
                <a:latin typeface="Calibri"/>
                <a:ea typeface="Calibri"/>
              </a:rPr>
              <a:t>Fechamento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35"/>
          <p:cNvSpPr/>
          <p:nvPr/>
        </p:nvSpPr>
        <p:spPr>
          <a:xfrm>
            <a:off x="457200" y="64738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8c"/>
                </a:solidFill>
                <a:latin typeface="Calibri"/>
                <a:ea typeface="Calibri"/>
              </a:rPr>
              <a:t>Confraria dos Agentes · Agenda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640080" y="457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00c2a8"/>
                </a:solidFill>
                <a:latin typeface="Calibri"/>
                <a:ea typeface="Calibri"/>
              </a:rPr>
              <a:t>MÓDULO 0 · ANTES DO WORKSHOP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640080" y="777240"/>
            <a:ext cx="1091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1f3b"/>
                </a:solidFill>
                <a:latin typeface="Cambria"/>
                <a:ea typeface="Cambria"/>
              </a:rPr>
              <a:t>Pré-requisitos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640080" y="1508760"/>
            <a:ext cx="1091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640080" y="2148840"/>
            <a:ext cx="1926000" cy="3748680"/>
          </a:xfrm>
          <a:prstGeom prst="roundRect">
            <a:avLst>
              <a:gd name="adj" fmla="val 5696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Image 0" descr="preencoded.png"/>
          <p:cNvPicPr/>
          <p:nvPr/>
        </p:nvPicPr>
        <p:blipFill>
          <a:blip r:embed="rId1"/>
          <a:stretch/>
        </p:blipFill>
        <p:spPr>
          <a:xfrm>
            <a:off x="1191600" y="246888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66" name="Text 4"/>
          <p:cNvSpPr/>
          <p:nvPr/>
        </p:nvSpPr>
        <p:spPr>
          <a:xfrm>
            <a:off x="868680" y="3429000"/>
            <a:ext cx="146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Notebook com admin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868680" y="4023360"/>
            <a:ext cx="1468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Permissão de instalação local (sudo/admin) no laptop.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2886480" y="2148840"/>
            <a:ext cx="1926000" cy="3748680"/>
          </a:xfrm>
          <a:prstGeom prst="roundRect">
            <a:avLst>
              <a:gd name="adj" fmla="val 5696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Image 1" descr="preencoded.png"/>
          <p:cNvPicPr/>
          <p:nvPr/>
        </p:nvPicPr>
        <p:blipFill>
          <a:blip r:embed="rId2"/>
          <a:stretch/>
        </p:blipFill>
        <p:spPr>
          <a:xfrm>
            <a:off x="3438000" y="246888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70" name="Text 7"/>
          <p:cNvSpPr/>
          <p:nvPr/>
        </p:nvSpPr>
        <p:spPr>
          <a:xfrm>
            <a:off x="3115080" y="3429000"/>
            <a:ext cx="146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Conta Google pessoal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3115080" y="4023360"/>
            <a:ext cx="1468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Para criar projeto no Cloud Console e habilitar OAuth.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9"/>
          <p:cNvSpPr/>
          <p:nvPr/>
        </p:nvSpPr>
        <p:spPr>
          <a:xfrm>
            <a:off x="5132880" y="2148840"/>
            <a:ext cx="1926000" cy="3748680"/>
          </a:xfrm>
          <a:prstGeom prst="roundRect">
            <a:avLst>
              <a:gd name="adj" fmla="val 5696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Image 2" descr="preencoded.png"/>
          <p:cNvPicPr/>
          <p:nvPr/>
        </p:nvPicPr>
        <p:blipFill>
          <a:blip r:embed="rId3"/>
          <a:stretch/>
        </p:blipFill>
        <p:spPr>
          <a:xfrm>
            <a:off x="5684400" y="246888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74" name="Text 10"/>
          <p:cNvSpPr/>
          <p:nvPr/>
        </p:nvSpPr>
        <p:spPr>
          <a:xfrm>
            <a:off x="5361480" y="3429000"/>
            <a:ext cx="146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Cartão ou Pix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5361480" y="4023360"/>
            <a:ext cx="1468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R$ 50 de crédito para a conta na OpenRouter.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2"/>
          <p:cNvSpPr/>
          <p:nvPr/>
        </p:nvSpPr>
        <p:spPr>
          <a:xfrm>
            <a:off x="7378920" y="2148840"/>
            <a:ext cx="1926000" cy="3748680"/>
          </a:xfrm>
          <a:prstGeom prst="roundRect">
            <a:avLst>
              <a:gd name="adj" fmla="val 5696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Image 3" descr="preencoded.png"/>
          <p:cNvPicPr/>
          <p:nvPr/>
        </p:nvPicPr>
        <p:blipFill>
          <a:blip r:embed="rId4"/>
          <a:stretch/>
        </p:blipFill>
        <p:spPr>
          <a:xfrm>
            <a:off x="7930800" y="246888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78" name="Text 13"/>
          <p:cNvSpPr/>
          <p:nvPr/>
        </p:nvSpPr>
        <p:spPr>
          <a:xfrm>
            <a:off x="7607520" y="3429000"/>
            <a:ext cx="146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Telegram + @BotFather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4"/>
          <p:cNvSpPr/>
          <p:nvPr/>
        </p:nvSpPr>
        <p:spPr>
          <a:xfrm>
            <a:off x="7607520" y="4023360"/>
            <a:ext cx="1468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App instalado no celular, pronto para criar o bot.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5"/>
          <p:cNvSpPr/>
          <p:nvPr/>
        </p:nvSpPr>
        <p:spPr>
          <a:xfrm>
            <a:off x="9625320" y="2148840"/>
            <a:ext cx="1926000" cy="3748680"/>
          </a:xfrm>
          <a:prstGeom prst="roundRect">
            <a:avLst>
              <a:gd name="adj" fmla="val 5696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Image 4" descr="preencoded.png"/>
          <p:cNvPicPr/>
          <p:nvPr/>
        </p:nvPicPr>
        <p:blipFill>
          <a:blip r:embed="rId5"/>
          <a:stretch/>
        </p:blipFill>
        <p:spPr>
          <a:xfrm>
            <a:off x="10176840" y="246888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82" name="Text 16"/>
          <p:cNvSpPr/>
          <p:nvPr/>
        </p:nvSpPr>
        <p:spPr>
          <a:xfrm>
            <a:off x="9853920" y="3429000"/>
            <a:ext cx="146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Git, Node e Python 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7"/>
          <p:cNvSpPr/>
          <p:nvPr/>
        </p:nvSpPr>
        <p:spPr>
          <a:xfrm>
            <a:off x="9853920" y="4023360"/>
            <a:ext cx="1468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Pré-requisitos do Hermes, da OpenWebUI e do skill pack.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8"/>
          <p:cNvSpPr/>
          <p:nvPr/>
        </p:nvSpPr>
        <p:spPr>
          <a:xfrm>
            <a:off x="457200" y="64738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8c"/>
                </a:solidFill>
                <a:latin typeface="Calibri"/>
                <a:ea typeface="Calibri"/>
              </a:rPr>
              <a:t>Confraria dos Agentes · Módulo 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640080" y="457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00c2a8"/>
                </a:solidFill>
                <a:latin typeface="Calibri"/>
                <a:ea typeface="Calibri"/>
              </a:rPr>
              <a:t>MÓDULO 1 · 09:00 – 09:25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640080" y="777240"/>
            <a:ext cx="1091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1f3b"/>
                </a:solidFill>
                <a:latin typeface="Cambria"/>
                <a:ea typeface="Cambria"/>
              </a:rPr>
              <a:t>Aquecimento: ferramentas Google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640080" y="15087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b6f8c"/>
                </a:solidFill>
                <a:latin typeface="Calibri"/>
                <a:ea typeface="Calibri"/>
              </a:rPr>
              <a:t>Cada ferramenta é um gancho conceitual para o que vem depois.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"/>
          <p:cNvSpPr/>
          <p:nvPr/>
        </p:nvSpPr>
        <p:spPr>
          <a:xfrm>
            <a:off x="640080" y="1965960"/>
            <a:ext cx="3423600" cy="283428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Image 0" descr="preencoded.png"/>
          <p:cNvPicPr/>
          <p:nvPr/>
        </p:nvPicPr>
        <p:blipFill>
          <a:blip r:embed="rId1"/>
          <a:stretch/>
        </p:blipFill>
        <p:spPr>
          <a:xfrm>
            <a:off x="1940400" y="22860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90" name="Text 4"/>
          <p:cNvSpPr/>
          <p:nvPr/>
        </p:nvSpPr>
        <p:spPr>
          <a:xfrm>
            <a:off x="868680" y="3246120"/>
            <a:ext cx="2966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NotebookLM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868680" y="3840480"/>
            <a:ext cx="2966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Busca nas fontes que você deu, não no treino do modelo.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6"/>
          <p:cNvSpPr/>
          <p:nvPr/>
        </p:nvSpPr>
        <p:spPr>
          <a:xfrm>
            <a:off x="4384080" y="1965960"/>
            <a:ext cx="3423600" cy="283428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Image 1" descr="preencoded.png"/>
          <p:cNvPicPr/>
          <p:nvPr/>
        </p:nvPicPr>
        <p:blipFill>
          <a:blip r:embed="rId2"/>
          <a:stretch/>
        </p:blipFill>
        <p:spPr>
          <a:xfrm>
            <a:off x="5684400" y="22860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94" name="Text 7"/>
          <p:cNvSpPr/>
          <p:nvPr/>
        </p:nvSpPr>
        <p:spPr>
          <a:xfrm>
            <a:off x="4612680" y="3246120"/>
            <a:ext cx="2966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Gemini Chat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4612680" y="3840480"/>
            <a:ext cx="2966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LLM puro: gera texto. Não acessa arquivo, não executa nada.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9"/>
          <p:cNvSpPr/>
          <p:nvPr/>
        </p:nvSpPr>
        <p:spPr>
          <a:xfrm>
            <a:off x="8127720" y="1965960"/>
            <a:ext cx="3423600" cy="283428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Image 2" descr="preencoded.png"/>
          <p:cNvPicPr/>
          <p:nvPr/>
        </p:nvPicPr>
        <p:blipFill>
          <a:blip r:embed="rId3"/>
          <a:stretch/>
        </p:blipFill>
        <p:spPr>
          <a:xfrm>
            <a:off x="9428400" y="22860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98" name="Text 10"/>
          <p:cNvSpPr/>
          <p:nvPr/>
        </p:nvSpPr>
        <p:spPr>
          <a:xfrm>
            <a:off x="8356320" y="3246120"/>
            <a:ext cx="2966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Gemini Gems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8356320" y="3840480"/>
            <a:ext cx="2966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Instrução que você ensina uma vez, nomeia, e reusa.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0" name="Table 0"/>
          <p:cNvGraphicFramePr/>
          <p:nvPr/>
        </p:nvGraphicFramePr>
        <p:xfrm>
          <a:off x="640080" y="5074920"/>
          <a:ext cx="10911240" cy="1280160"/>
        </p:xfrm>
        <a:graphic>
          <a:graphicData uri="http://schemas.openxmlformats.org/drawingml/2006/table">
            <a:tbl>
              <a:tblPr/>
              <a:tblGrid>
                <a:gridCol w="3054960"/>
                <a:gridCol w="3709800"/>
                <a:gridCol w="4146120"/>
              </a:tblGrid>
              <a:tr h="320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Ferramenta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Conceito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No Hermes é...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1f3b"/>
                    </a:solidFill>
                  </a:tcPr>
                </a:tc>
              </a:tr>
              <a:tr h="320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NotebookLM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RAG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Contexto + arquivos locais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Gemini Chat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LLM + Interface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OpenWebUI + modelos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</a:tr>
              <a:tr h="320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Gemini Gems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Instruções persistentes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Skills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Text 12"/>
          <p:cNvSpPr/>
          <p:nvPr/>
        </p:nvSpPr>
        <p:spPr>
          <a:xfrm>
            <a:off x="457200" y="64738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8c"/>
                </a:solidFill>
                <a:latin typeface="Calibri"/>
                <a:ea typeface="Calibri"/>
              </a:rPr>
              <a:t>Confraria dos Agentes · Módulo 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640080" y="457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00c2a8"/>
                </a:solidFill>
                <a:latin typeface="Calibri"/>
                <a:ea typeface="Calibri"/>
              </a:rPr>
              <a:t>MÓDULO 2 · 09:25 – 10:25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640080" y="777240"/>
            <a:ext cx="1091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1f3b"/>
                </a:solidFill>
                <a:latin typeface="Cambria"/>
                <a:ea typeface="Cambria"/>
              </a:rPr>
              <a:t>O ecossistema de modelos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640080" y="15087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ff6b4a"/>
                </a:solidFill>
                <a:latin typeface="Calibri"/>
                <a:ea typeface="Calibri"/>
              </a:rPr>
              <a:t>A pergunta não é "qual é melhor". É: qual é o melhor para a tarefa certa?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5" name="Chart 0"/>
          <p:cNvGraphicFramePr/>
          <p:nvPr/>
        </p:nvGraphicFramePr>
        <p:xfrm>
          <a:off x="640080" y="2057400"/>
          <a:ext cx="6400440" cy="420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6" name="Shape 3"/>
          <p:cNvSpPr/>
          <p:nvPr/>
        </p:nvSpPr>
        <p:spPr>
          <a:xfrm>
            <a:off x="7315200" y="2057400"/>
            <a:ext cx="4205880" cy="420588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7589520" y="22860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Por que NÃO usar Fable/Opus para tudo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7589520" y="2834640"/>
            <a:ext cx="36572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20223d"/>
              </a:buClr>
              <a:buFont typeface="OpenSymbol"/>
              <a:buChar char="▪"/>
            </a:pPr>
            <a:r>
              <a:rPr b="0" lang="en-US" sz="1250" spc="-1" strike="noStrike">
                <a:solidFill>
                  <a:srgbClr val="20223d"/>
                </a:solidFill>
                <a:latin typeface="Calibri"/>
                <a:ea typeface="Calibri"/>
              </a:rPr>
              <a:t>Custo 10-100× maior para ganho marginal em tarefas rotineiras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20223d"/>
              </a:buClr>
              <a:buFont typeface="OpenSymbol"/>
              <a:buChar char="▪"/>
            </a:pPr>
            <a:r>
              <a:rPr b="0" lang="en-US" sz="1250" spc="-1" strike="noStrike">
                <a:solidFill>
                  <a:srgbClr val="20223d"/>
                </a:solidFill>
                <a:latin typeface="Calibri"/>
                <a:ea typeface="Calibri"/>
              </a:rPr>
              <a:t>DeepSeek V4 Pro entrega qualidade equivalente em 90% dos casos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20223d"/>
              </a:buClr>
              <a:buFont typeface="OpenSymbol"/>
              <a:buChar char="▪"/>
            </a:pPr>
            <a:r>
              <a:rPr b="0" lang="en-US" sz="1250" spc="-1" strike="noStrike">
                <a:solidFill>
                  <a:srgbClr val="20223d"/>
                </a:solidFill>
                <a:latin typeface="Calibri"/>
                <a:ea typeface="Calibri"/>
              </a:rPr>
              <a:t>Modelos caros: reservar para código crítico e tarefas que justificam o custo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20223d"/>
              </a:buClr>
              <a:buFont typeface="OpenSymbol"/>
              <a:buChar char="▪"/>
            </a:pPr>
            <a:r>
              <a:rPr b="0" lang="en-US" sz="1250" spc="-1" strike="noStrike">
                <a:solidFill>
                  <a:srgbClr val="20223d"/>
                </a:solidFill>
                <a:latin typeface="Calibri"/>
                <a:ea typeface="Calibri"/>
              </a:rPr>
              <a:t>Agente do dia a dia (Hermes): DeepSeek V4 Pro — 14× mais barato que Claude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457200" y="64738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8c"/>
                </a:solidFill>
                <a:latin typeface="Calibri"/>
                <a:ea typeface="Calibri"/>
              </a:rPr>
              <a:t>Confraria dos Agentes · Módulo 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640080" y="457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00c2a8"/>
                </a:solidFill>
                <a:latin typeface="Calibri"/>
                <a:ea typeface="Calibri"/>
              </a:rPr>
              <a:t>MÓDULO 2 · 09:25 – 10:25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640080" y="777240"/>
            <a:ext cx="1091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1f3b"/>
                </a:solidFill>
                <a:latin typeface="Cambria"/>
                <a:ea typeface="Cambria"/>
              </a:rPr>
              <a:t>Contexto e reasoning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640080" y="1737360"/>
            <a:ext cx="5303160" cy="429732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Image 0" descr="preencoded.png"/>
          <p:cNvPicPr/>
          <p:nvPr/>
        </p:nvPicPr>
        <p:blipFill>
          <a:blip r:embed="rId1"/>
          <a:stretch/>
        </p:blipFill>
        <p:spPr>
          <a:xfrm>
            <a:off x="896040" y="196596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114" name="Text 3"/>
          <p:cNvSpPr/>
          <p:nvPr/>
        </p:nvSpPr>
        <p:spPr>
          <a:xfrm>
            <a:off x="1691640" y="205740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1f3b"/>
                </a:solidFill>
                <a:latin typeface="Cambria"/>
                <a:ea typeface="Cambria"/>
              </a:rPr>
              <a:t>Janela de contexto = memória de trabalho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5" name="Table 0"/>
          <p:cNvGraphicFramePr/>
          <p:nvPr/>
        </p:nvGraphicFramePr>
        <p:xfrm>
          <a:off x="896040" y="2788920"/>
          <a:ext cx="4800240" cy="147024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</a:rPr>
                        <a:t>DeepSeek V4 Pro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1M tokens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O Código Limpo inteiro (~460 pág)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</a:rPr>
                        <a:t>Claude Sonnet 4.6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200K tokens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Um projeto médio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</a:rPr>
                        <a:t>GPT-4o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128K tokens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Um documento grande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6" name="Text 4"/>
          <p:cNvSpPr/>
          <p:nvPr/>
        </p:nvSpPr>
        <p:spPr>
          <a:xfrm>
            <a:off x="896040" y="4343400"/>
            <a:ext cx="4800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20223d"/>
                </a:solidFill>
                <a:latin typeface="Calibri"/>
                <a:ea typeface="Calibri"/>
              </a:rPr>
              <a:t>Habilidade crucial: saber o que colocar no contexto e o que deixar de fora.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5"/>
          <p:cNvSpPr/>
          <p:nvPr/>
        </p:nvSpPr>
        <p:spPr>
          <a:xfrm>
            <a:off x="6263640" y="1737360"/>
            <a:ext cx="5257440" cy="4525920"/>
          </a:xfrm>
          <a:prstGeom prst="roundRect">
            <a:avLst>
              <a:gd name="adj" fmla="val 2424"/>
            </a:avLst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8" name="Image 1" descr="preencoded.png"/>
          <p:cNvPicPr/>
          <p:nvPr/>
        </p:nvPicPr>
        <p:blipFill>
          <a:blip r:embed="rId2"/>
          <a:stretch/>
        </p:blipFill>
        <p:spPr>
          <a:xfrm>
            <a:off x="6519600" y="1947600"/>
            <a:ext cx="594000" cy="594000"/>
          </a:xfrm>
          <a:prstGeom prst="rect">
            <a:avLst/>
          </a:prstGeom>
          <a:ln w="0">
            <a:noFill/>
          </a:ln>
        </p:spPr>
      </p:pic>
      <p:sp>
        <p:nvSpPr>
          <p:cNvPr id="119" name="Text 6"/>
          <p:cNvSpPr/>
          <p:nvPr/>
        </p:nvSpPr>
        <p:spPr>
          <a:xfrm>
            <a:off x="7269480" y="201168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mbria"/>
                <a:ea typeface="Cambria"/>
              </a:rPr>
              <a:t>Reasoning: quanto o modelo "pensa"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>
            <a:off x="6519600" y="2697480"/>
            <a:ext cx="1051200" cy="475200"/>
          </a:xfrm>
          <a:prstGeom prst="roundRect">
            <a:avLst>
              <a:gd name="adj" fmla="val 15385"/>
            </a:avLst>
          </a:prstGeom>
          <a:solidFill>
            <a:srgbClr val="00c2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6519600" y="2697480"/>
            <a:ext cx="1051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1f3b"/>
                </a:solidFill>
                <a:latin typeface="Calibri"/>
                <a:ea typeface="Calibri"/>
              </a:rPr>
              <a:t>Low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7726680" y="2697480"/>
            <a:ext cx="3565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de1f5"/>
                </a:solidFill>
                <a:latin typeface="Calibri"/>
                <a:ea typeface="Calibri"/>
              </a:rPr>
              <a:t>"Resuma este email"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0"/>
          <p:cNvSpPr/>
          <p:nvPr/>
        </p:nvSpPr>
        <p:spPr>
          <a:xfrm>
            <a:off x="6519600" y="3392280"/>
            <a:ext cx="1051200" cy="475200"/>
          </a:xfrm>
          <a:prstGeom prst="roundRect">
            <a:avLst>
              <a:gd name="adj" fmla="val 15385"/>
            </a:avLst>
          </a:prstGeom>
          <a:solidFill>
            <a:srgbClr val="00c2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6519600" y="3392280"/>
            <a:ext cx="1051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1f3b"/>
                </a:solidFill>
                <a:latin typeface="Calibri"/>
                <a:ea typeface="Calibri"/>
              </a:rPr>
              <a:t>Medium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7726680" y="3392280"/>
            <a:ext cx="3565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de1f5"/>
                </a:solidFill>
                <a:latin typeface="Calibri"/>
                <a:ea typeface="Calibri"/>
              </a:rPr>
              <a:t>"Crie o esqueleto de uma API"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3"/>
          <p:cNvSpPr/>
          <p:nvPr/>
        </p:nvSpPr>
        <p:spPr>
          <a:xfrm>
            <a:off x="6519600" y="4087440"/>
            <a:ext cx="1051200" cy="475200"/>
          </a:xfrm>
          <a:prstGeom prst="roundRect">
            <a:avLst>
              <a:gd name="adj" fmla="val 15385"/>
            </a:avLst>
          </a:prstGeom>
          <a:solidFill>
            <a:srgbClr val="00c2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6519600" y="4087440"/>
            <a:ext cx="1051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1f3b"/>
                </a:solidFill>
                <a:latin typeface="Calibri"/>
                <a:ea typeface="Calibri"/>
              </a:rPr>
              <a:t>High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7726680" y="4087440"/>
            <a:ext cx="3565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de1f5"/>
                </a:solidFill>
                <a:latin typeface="Calibri"/>
                <a:ea typeface="Calibri"/>
              </a:rPr>
              <a:t>"Debug este bug intermitente"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6"/>
          <p:cNvSpPr/>
          <p:nvPr/>
        </p:nvSpPr>
        <p:spPr>
          <a:xfrm>
            <a:off x="6519600" y="4782240"/>
            <a:ext cx="1051200" cy="475200"/>
          </a:xfrm>
          <a:prstGeom prst="roundRect">
            <a:avLst>
              <a:gd name="adj" fmla="val 15385"/>
            </a:avLst>
          </a:prstGeom>
          <a:solidFill>
            <a:srgbClr val="00c2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17"/>
          <p:cNvSpPr/>
          <p:nvPr/>
        </p:nvSpPr>
        <p:spPr>
          <a:xfrm>
            <a:off x="6519600" y="4782240"/>
            <a:ext cx="1051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1f3b"/>
                </a:solidFill>
                <a:latin typeface="Calibri"/>
                <a:ea typeface="Calibri"/>
              </a:rPr>
              <a:t>XHigh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8"/>
          <p:cNvSpPr/>
          <p:nvPr/>
        </p:nvSpPr>
        <p:spPr>
          <a:xfrm>
            <a:off x="7726680" y="4782240"/>
            <a:ext cx="3565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de1f5"/>
                </a:solidFill>
                <a:latin typeface="Calibri"/>
                <a:ea typeface="Calibri"/>
              </a:rPr>
              <a:t>"Projete a arquitetura"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9"/>
          <p:cNvSpPr/>
          <p:nvPr/>
        </p:nvSpPr>
        <p:spPr>
          <a:xfrm>
            <a:off x="6519600" y="580644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c7cbe8"/>
                </a:solidFill>
                <a:latin typeface="Calibri"/>
                <a:ea typeface="Calibri"/>
              </a:rPr>
              <a:t>Mais reasoning = mais tokens = mais caro e mais lento.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20"/>
          <p:cNvSpPr/>
          <p:nvPr/>
        </p:nvSpPr>
        <p:spPr>
          <a:xfrm>
            <a:off x="457200" y="64738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8c"/>
                </a:solidFill>
                <a:latin typeface="Calibri"/>
                <a:ea typeface="Calibri"/>
              </a:rPr>
              <a:t>Confraria dos Agentes · Módulo 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640080" y="457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00c2a8"/>
                </a:solidFill>
                <a:latin typeface="Calibri"/>
                <a:ea typeface="Calibri"/>
              </a:rPr>
              <a:t>MÓDULO 3 · 10:25 – 10:55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640080" y="777240"/>
            <a:ext cx="1091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1f3b"/>
                </a:solidFill>
                <a:latin typeface="Cambria"/>
                <a:ea typeface="Cambria"/>
              </a:rPr>
              <a:t>O que é um harness?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640080" y="15087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ff6b4a"/>
                </a:solidFill>
                <a:latin typeface="Calibri"/>
                <a:ea typeface="Calibri"/>
              </a:rPr>
              <a:t>Modelo de IA gera texto. Harness faz ele AGIR.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640080" y="2057400"/>
            <a:ext cx="2834280" cy="356580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Image 0" descr="preencoded.png"/>
          <p:cNvPicPr/>
          <p:nvPr/>
        </p:nvPicPr>
        <p:blipFill>
          <a:blip r:embed="rId1"/>
          <a:stretch/>
        </p:blipFill>
        <p:spPr>
          <a:xfrm>
            <a:off x="1554480" y="2377440"/>
            <a:ext cx="1005480" cy="1005480"/>
          </a:xfrm>
          <a:prstGeom prst="rect">
            <a:avLst/>
          </a:prstGeom>
          <a:ln w="0">
            <a:noFill/>
          </a:ln>
        </p:spPr>
      </p:pic>
      <p:sp>
        <p:nvSpPr>
          <p:cNvPr id="139" name="Text 4"/>
          <p:cNvSpPr/>
          <p:nvPr/>
        </p:nvSpPr>
        <p:spPr>
          <a:xfrm>
            <a:off x="822960" y="35661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LLM sozinho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822960" y="4023360"/>
            <a:ext cx="24685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0223d"/>
                </a:solidFill>
                <a:latin typeface="Calibri"/>
                <a:ea typeface="Calibri"/>
              </a:rPr>
              <a:t>É o motor. Gera texto. Sem carroceria, não anda sozinho.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Image 1" descr="preencoded.png"/>
          <p:cNvPicPr/>
          <p:nvPr/>
        </p:nvPicPr>
        <p:blipFill>
          <a:blip r:embed="rId2"/>
          <a:stretch/>
        </p:blipFill>
        <p:spPr>
          <a:xfrm>
            <a:off x="3520440" y="3520440"/>
            <a:ext cx="822600" cy="639720"/>
          </a:xfrm>
          <a:prstGeom prst="rect">
            <a:avLst/>
          </a:prstGeom>
          <a:ln w="0">
            <a:noFill/>
          </a:ln>
        </p:spPr>
      </p:pic>
      <p:sp>
        <p:nvSpPr>
          <p:cNvPr id="142" name="Shape 6"/>
          <p:cNvSpPr/>
          <p:nvPr/>
        </p:nvSpPr>
        <p:spPr>
          <a:xfrm>
            <a:off x="4389120" y="2057400"/>
            <a:ext cx="2834280" cy="3565800"/>
          </a:xfrm>
          <a:prstGeom prst="roundRect">
            <a:avLst>
              <a:gd name="adj" fmla="val 3871"/>
            </a:avLst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3" name="Image 2" descr="preencoded.png"/>
          <p:cNvPicPr/>
          <p:nvPr/>
        </p:nvPicPr>
        <p:blipFill>
          <a:blip r:embed="rId3"/>
          <a:stretch/>
        </p:blipFill>
        <p:spPr>
          <a:xfrm>
            <a:off x="5303520" y="2377440"/>
            <a:ext cx="1005480" cy="1005480"/>
          </a:xfrm>
          <a:prstGeom prst="rect">
            <a:avLst/>
          </a:prstGeom>
          <a:ln w="0">
            <a:noFill/>
          </a:ln>
        </p:spPr>
      </p:pic>
      <p:sp>
        <p:nvSpPr>
          <p:cNvPr id="144" name="Text 7"/>
          <p:cNvSpPr/>
          <p:nvPr/>
        </p:nvSpPr>
        <p:spPr>
          <a:xfrm>
            <a:off x="4572000" y="35661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LLM + Harness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4572000" y="4023360"/>
            <a:ext cx="24685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de1f5"/>
                </a:solidFill>
                <a:latin typeface="Calibri"/>
                <a:ea typeface="Calibri"/>
              </a:rPr>
              <a:t>É o carro inteiro: volante, rodas, painel. Anda, decide, age.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9"/>
          <p:cNvSpPr/>
          <p:nvPr/>
        </p:nvSpPr>
        <p:spPr>
          <a:xfrm>
            <a:off x="7772400" y="2011680"/>
            <a:ext cx="1797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b6f8c"/>
                </a:solidFill>
                <a:latin typeface="Calibri"/>
                <a:ea typeface="Calibri"/>
              </a:rPr>
              <a:t>LLM sozinho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9753480" y="2011680"/>
            <a:ext cx="1797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c2a8"/>
                </a:solidFill>
                <a:latin typeface="Calibri"/>
                <a:ea typeface="Calibri"/>
              </a:rPr>
              <a:t>Com harness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1"/>
          <p:cNvSpPr/>
          <p:nvPr/>
        </p:nvSpPr>
        <p:spPr>
          <a:xfrm>
            <a:off x="7772400" y="2423160"/>
            <a:ext cx="1797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0223d"/>
                </a:solidFill>
                <a:latin typeface="Calibri"/>
                <a:ea typeface="Calibri"/>
              </a:rPr>
              <a:t>Gera texto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2"/>
          <p:cNvSpPr/>
          <p:nvPr/>
        </p:nvSpPr>
        <p:spPr>
          <a:xfrm>
            <a:off x="9753480" y="2423160"/>
            <a:ext cx="1797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1f3b"/>
                </a:solidFill>
                <a:latin typeface="Calibri"/>
                <a:ea typeface="Calibri"/>
              </a:rPr>
              <a:t>Executa comandos no terminal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7772400" y="3200400"/>
            <a:ext cx="1797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0223d"/>
                </a:solidFill>
                <a:latin typeface="Calibri"/>
                <a:ea typeface="Calibri"/>
              </a:rPr>
              <a:t>Responde perguntas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4"/>
          <p:cNvSpPr/>
          <p:nvPr/>
        </p:nvSpPr>
        <p:spPr>
          <a:xfrm>
            <a:off x="9753480" y="3200400"/>
            <a:ext cx="1797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1f3b"/>
                </a:solidFill>
                <a:latin typeface="Calibri"/>
                <a:ea typeface="Calibri"/>
              </a:rPr>
              <a:t>Cria, lê e edita arquivos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7772400" y="3977640"/>
            <a:ext cx="1797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0223d"/>
                </a:solidFill>
                <a:latin typeface="Calibri"/>
                <a:ea typeface="Calibri"/>
              </a:rPr>
              <a:t>Não lembra de nada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6"/>
          <p:cNvSpPr/>
          <p:nvPr/>
        </p:nvSpPr>
        <p:spPr>
          <a:xfrm>
            <a:off x="9753480" y="3977640"/>
            <a:ext cx="1797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1f3b"/>
                </a:solidFill>
                <a:latin typeface="Calibri"/>
                <a:ea typeface="Calibri"/>
              </a:rPr>
              <a:t>Memória permanente entre sessões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7"/>
          <p:cNvSpPr/>
          <p:nvPr/>
        </p:nvSpPr>
        <p:spPr>
          <a:xfrm>
            <a:off x="7772400" y="4754880"/>
            <a:ext cx="1797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0223d"/>
                </a:solidFill>
                <a:latin typeface="Calibri"/>
                <a:ea typeface="Calibri"/>
              </a:rPr>
              <a:t>Só conversa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8"/>
          <p:cNvSpPr/>
          <p:nvPr/>
        </p:nvSpPr>
        <p:spPr>
          <a:xfrm>
            <a:off x="9753480" y="4754880"/>
            <a:ext cx="1797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1f3b"/>
                </a:solidFill>
                <a:latin typeface="Calibri"/>
                <a:ea typeface="Calibri"/>
              </a:rPr>
              <a:t>Age em background, Telegram, cron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9"/>
          <p:cNvSpPr/>
          <p:nvPr/>
        </p:nvSpPr>
        <p:spPr>
          <a:xfrm>
            <a:off x="457200" y="64738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8c"/>
                </a:solidFill>
                <a:latin typeface="Calibri"/>
                <a:ea typeface="Calibri"/>
              </a:rPr>
              <a:t>Confraria dos Agentes · Módulo 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640080" y="457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00c2a8"/>
                </a:solidFill>
                <a:latin typeface="Calibri"/>
                <a:ea typeface="Calibri"/>
              </a:rPr>
              <a:t>MÓDULO 3 · 10:25 – 10:55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640080" y="777240"/>
            <a:ext cx="1091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1f3b"/>
                </a:solidFill>
                <a:latin typeface="Cambria"/>
                <a:ea typeface="Cambria"/>
              </a:rPr>
              <a:t>Ecossistema de harnesses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640080" y="1920240"/>
            <a:ext cx="1926000" cy="3291480"/>
          </a:xfrm>
          <a:prstGeom prst="roundRect">
            <a:avLst>
              <a:gd name="adj" fmla="val 5696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Image 0" descr="preencoded.png"/>
          <p:cNvPicPr/>
          <p:nvPr/>
        </p:nvPicPr>
        <p:blipFill>
          <a:blip r:embed="rId1"/>
          <a:stretch/>
        </p:blipFill>
        <p:spPr>
          <a:xfrm>
            <a:off x="1191600" y="224028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161" name="Text 3"/>
          <p:cNvSpPr/>
          <p:nvPr/>
        </p:nvSpPr>
        <p:spPr>
          <a:xfrm>
            <a:off x="868680" y="3200400"/>
            <a:ext cx="146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Hermes Agent (workshop)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868680" y="3794760"/>
            <a:ext cx="1468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200+ modelos (OpenRouter). CLI, Telegram, WebUI. Open source.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5"/>
          <p:cNvSpPr/>
          <p:nvPr/>
        </p:nvSpPr>
        <p:spPr>
          <a:xfrm>
            <a:off x="2886480" y="1920240"/>
            <a:ext cx="1926000" cy="3291480"/>
          </a:xfrm>
          <a:prstGeom prst="roundRect">
            <a:avLst>
              <a:gd name="adj" fmla="val 5696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Image 1" descr="preencoded.png"/>
          <p:cNvPicPr/>
          <p:nvPr/>
        </p:nvPicPr>
        <p:blipFill>
          <a:blip r:embed="rId2"/>
          <a:stretch/>
        </p:blipFill>
        <p:spPr>
          <a:xfrm>
            <a:off x="3438000" y="224028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165" name="Text 6"/>
          <p:cNvSpPr/>
          <p:nvPr/>
        </p:nvSpPr>
        <p:spPr>
          <a:xfrm>
            <a:off x="3115080" y="3200400"/>
            <a:ext cx="146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Cursor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3115080" y="3794760"/>
            <a:ext cx="1468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IDE + agente. Anthropic, OpenAI. Editor. Proprietária.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8"/>
          <p:cNvSpPr/>
          <p:nvPr/>
        </p:nvSpPr>
        <p:spPr>
          <a:xfrm>
            <a:off x="5132880" y="1920240"/>
            <a:ext cx="1926000" cy="3291480"/>
          </a:xfrm>
          <a:prstGeom prst="roundRect">
            <a:avLst>
              <a:gd name="adj" fmla="val 5696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Image 2" descr="preencoded.png"/>
          <p:cNvPicPr/>
          <p:nvPr/>
        </p:nvPicPr>
        <p:blipFill>
          <a:blip r:embed="rId3"/>
          <a:stretch/>
        </p:blipFill>
        <p:spPr>
          <a:xfrm>
            <a:off x="5684400" y="224028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169" name="Text 9"/>
          <p:cNvSpPr/>
          <p:nvPr/>
        </p:nvSpPr>
        <p:spPr>
          <a:xfrm>
            <a:off x="5361480" y="3200400"/>
            <a:ext cx="146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Claude Code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5361480" y="3794760"/>
            <a:ext cx="1468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Terminal + código. Só Anthropic. TUI. Proprietária.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1"/>
          <p:cNvSpPr/>
          <p:nvPr/>
        </p:nvSpPr>
        <p:spPr>
          <a:xfrm>
            <a:off x="7378920" y="1920240"/>
            <a:ext cx="1926000" cy="3291480"/>
          </a:xfrm>
          <a:prstGeom prst="roundRect">
            <a:avLst>
              <a:gd name="adj" fmla="val 5696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Image 3" descr="preencoded.png"/>
          <p:cNvPicPr/>
          <p:nvPr/>
        </p:nvPicPr>
        <p:blipFill>
          <a:blip r:embed="rId4"/>
          <a:stretch/>
        </p:blipFill>
        <p:spPr>
          <a:xfrm>
            <a:off x="7930800" y="224028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173" name="Text 12"/>
          <p:cNvSpPr/>
          <p:nvPr/>
        </p:nvSpPr>
        <p:spPr>
          <a:xfrm>
            <a:off x="7607520" y="3200400"/>
            <a:ext cx="146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Cline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7607520" y="3794760"/>
            <a:ext cx="1468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VS Code + agente. Provider-agnóstico. Open source.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4"/>
          <p:cNvSpPr/>
          <p:nvPr/>
        </p:nvSpPr>
        <p:spPr>
          <a:xfrm>
            <a:off x="9625320" y="1920240"/>
            <a:ext cx="1926000" cy="3291480"/>
          </a:xfrm>
          <a:prstGeom prst="roundRect">
            <a:avLst>
              <a:gd name="adj" fmla="val 5696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Image 4" descr="preencoded.png"/>
          <p:cNvPicPr/>
          <p:nvPr/>
        </p:nvPicPr>
        <p:blipFill>
          <a:blip r:embed="rId5"/>
          <a:stretch/>
        </p:blipFill>
        <p:spPr>
          <a:xfrm>
            <a:off x="10176840" y="224028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177" name="Text 15"/>
          <p:cNvSpPr/>
          <p:nvPr/>
        </p:nvSpPr>
        <p:spPr>
          <a:xfrm>
            <a:off x="9853920" y="3200400"/>
            <a:ext cx="146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Pi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6"/>
          <p:cNvSpPr/>
          <p:nvPr/>
        </p:nvSpPr>
        <p:spPr>
          <a:xfrm>
            <a:off x="9853920" y="3794760"/>
            <a:ext cx="1468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Terminal + código. 30+ provedores. TUI. Open source.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7"/>
          <p:cNvSpPr/>
          <p:nvPr/>
        </p:nvSpPr>
        <p:spPr>
          <a:xfrm>
            <a:off x="640080" y="5440680"/>
            <a:ext cx="10911240" cy="868320"/>
          </a:xfrm>
          <a:prstGeom prst="roundRect">
            <a:avLst>
              <a:gd name="adj" fmla="val 10526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8"/>
          <p:cNvSpPr/>
          <p:nvPr/>
        </p:nvSpPr>
        <p:spPr>
          <a:xfrm>
            <a:off x="868680" y="5440680"/>
            <a:ext cx="10454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1f3b"/>
                </a:solidFill>
                <a:latin typeface="Calibri"/>
                <a:ea typeface="Calibri"/>
              </a:rPr>
              <a:t>Por que Hermes para este workshop:  </a:t>
            </a:r>
            <a:r>
              <a:rPr b="0" lang="en-US" sz="1300" spc="-1" strike="noStrike">
                <a:solidFill>
                  <a:srgbClr val="20223d"/>
                </a:solidFill>
                <a:latin typeface="Calibri"/>
                <a:ea typeface="Calibri"/>
              </a:rPr>
              <a:t>provider-agnóstico, multi-canal, skills e cron nativos, open source, MCP nativo.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9"/>
          <p:cNvSpPr/>
          <p:nvPr/>
        </p:nvSpPr>
        <p:spPr>
          <a:xfrm>
            <a:off x="457200" y="64738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8c"/>
                </a:solidFill>
                <a:latin typeface="Calibri"/>
                <a:ea typeface="Calibri"/>
              </a:rPr>
              <a:t>Confraria dos Agentes · Módulo 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/>
          <p:nvPr/>
        </p:nvSpPr>
        <p:spPr>
          <a:xfrm>
            <a:off x="640080" y="457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00c2a8"/>
                </a:solidFill>
                <a:latin typeface="Calibri"/>
                <a:ea typeface="Calibri"/>
              </a:rPr>
              <a:t>MÓDULO 4 · 10:55 – 11:15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640080" y="777240"/>
            <a:ext cx="1091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1f3b"/>
                </a:solidFill>
                <a:latin typeface="Cambria"/>
                <a:ea typeface="Cambria"/>
              </a:rPr>
              <a:t>Coleta de credenciais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640080" y="15087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b6f8c"/>
                </a:solidFill>
                <a:latin typeface="Calibri"/>
                <a:ea typeface="Calibri"/>
              </a:rPr>
              <a:t>Antes de instalar o Hermes, coletamos TUDO. Assim a instalação flui sem interrupção.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3"/>
          <p:cNvSpPr/>
          <p:nvPr/>
        </p:nvSpPr>
        <p:spPr>
          <a:xfrm>
            <a:off x="640080" y="1965960"/>
            <a:ext cx="3423600" cy="3565800"/>
          </a:xfrm>
          <a:prstGeom prst="roundRect">
            <a:avLst>
              <a:gd name="adj" fmla="val 3205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Image 0" descr="preencoded.png"/>
          <p:cNvPicPr/>
          <p:nvPr/>
        </p:nvPicPr>
        <p:blipFill>
          <a:blip r:embed="rId1"/>
          <a:stretch/>
        </p:blipFill>
        <p:spPr>
          <a:xfrm>
            <a:off x="1940400" y="22860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187" name="Text 4"/>
          <p:cNvSpPr/>
          <p:nvPr/>
        </p:nvSpPr>
        <p:spPr>
          <a:xfrm>
            <a:off x="868680" y="3246120"/>
            <a:ext cx="2966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OpenRouter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868680" y="3840480"/>
            <a:ext cx="2966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Conta + créditos + API key (sk-or-v1-...). Trate como senha de banco.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6"/>
          <p:cNvSpPr/>
          <p:nvPr/>
        </p:nvSpPr>
        <p:spPr>
          <a:xfrm>
            <a:off x="4384080" y="1965960"/>
            <a:ext cx="3423600" cy="3565800"/>
          </a:xfrm>
          <a:prstGeom prst="roundRect">
            <a:avLst>
              <a:gd name="adj" fmla="val 3205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Image 1" descr="preencoded.png"/>
          <p:cNvPicPr/>
          <p:nvPr/>
        </p:nvPicPr>
        <p:blipFill>
          <a:blip r:embed="rId2"/>
          <a:stretch/>
        </p:blipFill>
        <p:spPr>
          <a:xfrm>
            <a:off x="5684400" y="22860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191" name="Text 7"/>
          <p:cNvSpPr/>
          <p:nvPr/>
        </p:nvSpPr>
        <p:spPr>
          <a:xfrm>
            <a:off x="4612680" y="3246120"/>
            <a:ext cx="2966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Telegram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8"/>
          <p:cNvSpPr/>
          <p:nvPr/>
        </p:nvSpPr>
        <p:spPr>
          <a:xfrm>
            <a:off x="4612680" y="3840480"/>
            <a:ext cx="2966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Bot criado via @BotFather. Copiar e guardar o token.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9"/>
          <p:cNvSpPr/>
          <p:nvPr/>
        </p:nvSpPr>
        <p:spPr>
          <a:xfrm>
            <a:off x="8127720" y="1965960"/>
            <a:ext cx="3423600" cy="3565800"/>
          </a:xfrm>
          <a:prstGeom prst="roundRect">
            <a:avLst>
              <a:gd name="adj" fmla="val 3205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Image 2" descr="preencoded.png"/>
          <p:cNvPicPr/>
          <p:nvPr/>
        </p:nvPicPr>
        <p:blipFill>
          <a:blip r:embed="rId3"/>
          <a:stretch/>
        </p:blipFill>
        <p:spPr>
          <a:xfrm>
            <a:off x="9428400" y="22860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195" name="Text 10"/>
          <p:cNvSpPr/>
          <p:nvPr/>
        </p:nvSpPr>
        <p:spPr>
          <a:xfrm>
            <a:off x="8356320" y="3246120"/>
            <a:ext cx="2966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Google Cloud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11"/>
          <p:cNvSpPr/>
          <p:nvPr/>
        </p:nvSpPr>
        <p:spPr>
          <a:xfrm>
            <a:off x="8356320" y="3840480"/>
            <a:ext cx="2966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Projeto + APIs habilitadas + OAuth client + JSON baixado.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2"/>
          <p:cNvSpPr/>
          <p:nvPr/>
        </p:nvSpPr>
        <p:spPr>
          <a:xfrm>
            <a:off x="640080" y="5760720"/>
            <a:ext cx="10911240" cy="685440"/>
          </a:xfrm>
          <a:prstGeom prst="roundRect">
            <a:avLst>
              <a:gd name="adj" fmla="val 13333"/>
            </a:avLst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8" name="Image 3" descr="preencoded.png"/>
          <p:cNvPicPr/>
          <p:nvPr/>
        </p:nvPicPr>
        <p:blipFill>
          <a:blip r:embed="rId4"/>
          <a:stretch/>
        </p:blipFill>
        <p:spPr>
          <a:xfrm>
            <a:off x="822960" y="585216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99" name="Text 13"/>
          <p:cNvSpPr/>
          <p:nvPr/>
        </p:nvSpPr>
        <p:spPr>
          <a:xfrm>
            <a:off x="1463040" y="5760720"/>
            <a:ext cx="9996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Checklist: API key  ·  Bot token  ·  client_secret_....json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4"/>
          <p:cNvSpPr/>
          <p:nvPr/>
        </p:nvSpPr>
        <p:spPr>
          <a:xfrm>
            <a:off x="457200" y="64738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8c"/>
                </a:solidFill>
                <a:latin typeface="Calibri"/>
                <a:ea typeface="Calibri"/>
              </a:rPr>
              <a:t>Confraria dos Agentes · Módulo 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Image 0" descr="preencoded.png"/>
          <p:cNvPicPr/>
          <p:nvPr/>
        </p:nvPicPr>
        <p:blipFill>
          <a:blip r:embed="rId1"/>
          <a:stretch/>
        </p:blipFill>
        <p:spPr>
          <a:xfrm>
            <a:off x="9357120" y="2194560"/>
            <a:ext cx="2468520" cy="2468520"/>
          </a:xfrm>
          <a:prstGeom prst="rect">
            <a:avLst/>
          </a:prstGeom>
          <a:ln w="0">
            <a:noFill/>
          </a:ln>
        </p:spPr>
      </p:pic>
      <p:sp>
        <p:nvSpPr>
          <p:cNvPr id="202" name="Text 0"/>
          <p:cNvSpPr/>
          <p:nvPr/>
        </p:nvSpPr>
        <p:spPr>
          <a:xfrm>
            <a:off x="731520" y="23317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199" strike="noStrike">
                <a:solidFill>
                  <a:srgbClr val="00c2a8"/>
                </a:solidFill>
                <a:latin typeface="Calibri"/>
                <a:ea typeface="Calibri"/>
              </a:rPr>
              <a:t>MÓDULO 5 · 11:15 – 13:00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731520" y="2788920"/>
            <a:ext cx="85035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Setup: Hermes + Integrações + OpenWebUI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2"/>
          <p:cNvSpPr/>
          <p:nvPr/>
        </p:nvSpPr>
        <p:spPr>
          <a:xfrm>
            <a:off x="731520" y="4343400"/>
            <a:ext cx="85035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7cbe8"/>
                </a:solidFill>
                <a:latin typeface="Calibri"/>
                <a:ea typeface="Calibri"/>
              </a:rPr>
              <a:t>Instalação do Hermes (com folga pra troubleshooting) → modelo padrão DeepSeek → Telegram → Google Workspace → OpenWebUI no ar.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457200" y="64738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8c"/>
                </a:solidFill>
                <a:latin typeface="Calibri"/>
                <a:ea typeface="Calibri"/>
              </a:rPr>
              <a:t>Confraria dos Agentes · Módulo 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640080" y="457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00c2a8"/>
                </a:solidFill>
                <a:latin typeface="Calibri"/>
                <a:ea typeface="Calibri"/>
              </a:rPr>
              <a:t>MÓDULO 5 · O CHOQUE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"/>
          <p:cNvSpPr/>
          <p:nvPr/>
        </p:nvSpPr>
        <p:spPr>
          <a:xfrm>
            <a:off x="640080" y="777240"/>
            <a:ext cx="1091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1f3b"/>
                </a:solidFill>
                <a:latin typeface="Cambria"/>
                <a:ea typeface="Cambria"/>
              </a:rPr>
              <a:t>3 prompts, 1 tarefa: o jogo da cobrinha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"/>
          <p:cNvSpPr/>
          <p:nvPr/>
        </p:nvSpPr>
        <p:spPr>
          <a:xfrm>
            <a:off x="640080" y="1965960"/>
            <a:ext cx="3423600" cy="3565800"/>
          </a:xfrm>
          <a:prstGeom prst="roundRect">
            <a:avLst>
              <a:gd name="adj" fmla="val 3205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9" name="Image 0" descr="preencoded.png"/>
          <p:cNvPicPr/>
          <p:nvPr/>
        </p:nvPicPr>
        <p:blipFill>
          <a:blip r:embed="rId1"/>
          <a:stretch/>
        </p:blipFill>
        <p:spPr>
          <a:xfrm>
            <a:off x="1940400" y="22860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210" name="Text 3"/>
          <p:cNvSpPr/>
          <p:nvPr/>
        </p:nvSpPr>
        <p:spPr>
          <a:xfrm>
            <a:off x="868680" y="3246120"/>
            <a:ext cx="2966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1 · O Amador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4"/>
          <p:cNvSpPr/>
          <p:nvPr/>
        </p:nvSpPr>
        <p:spPr>
          <a:xfrm>
            <a:off x="868680" y="3840480"/>
            <a:ext cx="2966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"Crie um jogo da cobrinha em HTML." Resultado: funciona. Feio. Genérico.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5"/>
          <p:cNvSpPr/>
          <p:nvPr/>
        </p:nvSpPr>
        <p:spPr>
          <a:xfrm>
            <a:off x="4384080" y="1965960"/>
            <a:ext cx="3423600" cy="3565800"/>
          </a:xfrm>
          <a:prstGeom prst="roundRect">
            <a:avLst>
              <a:gd name="adj" fmla="val 3205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Image 1" descr="preencoded.png"/>
          <p:cNvPicPr/>
          <p:nvPr/>
        </p:nvPicPr>
        <p:blipFill>
          <a:blip r:embed="rId2"/>
          <a:stretch/>
        </p:blipFill>
        <p:spPr>
          <a:xfrm>
            <a:off x="5684400" y="22860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214" name="Text 6"/>
          <p:cNvSpPr/>
          <p:nvPr/>
        </p:nvSpPr>
        <p:spPr>
          <a:xfrm>
            <a:off x="4612680" y="3246120"/>
            <a:ext cx="2966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2 · O Detalhista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7"/>
          <p:cNvSpPr/>
          <p:nvPr/>
        </p:nvSpPr>
        <p:spPr>
          <a:xfrm>
            <a:off x="4612680" y="3840480"/>
            <a:ext cx="2966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Pede tema escuro, efeitos, placar, game over, touch. Resultado: melhor, mais completo.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8"/>
          <p:cNvSpPr/>
          <p:nvPr/>
        </p:nvSpPr>
        <p:spPr>
          <a:xfrm>
            <a:off x="8127720" y="1965960"/>
            <a:ext cx="3423600" cy="3565800"/>
          </a:xfrm>
          <a:prstGeom prst="roundRect">
            <a:avLst>
              <a:gd name="adj" fmla="val 3205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7" name="Image 2" descr="preencoded.png"/>
          <p:cNvPicPr/>
          <p:nvPr/>
        </p:nvPicPr>
        <p:blipFill>
          <a:blip r:embed="rId3"/>
          <a:stretch/>
        </p:blipFill>
        <p:spPr>
          <a:xfrm>
            <a:off x="9428400" y="22860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218" name="Text 9"/>
          <p:cNvSpPr/>
          <p:nvPr/>
        </p:nvSpPr>
        <p:spPr>
          <a:xfrm>
            <a:off x="8356320" y="3246120"/>
            <a:ext cx="2966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3 · O Profissional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0"/>
          <p:cNvSpPr/>
          <p:nvPr/>
        </p:nvSpPr>
        <p:spPr>
          <a:xfrm>
            <a:off x="8356320" y="3840480"/>
            <a:ext cx="2966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Escreve especificacao.md antes. O agente lê e executa exatamente o especificado.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1"/>
          <p:cNvSpPr/>
          <p:nvPr/>
        </p:nvSpPr>
        <p:spPr>
          <a:xfrm>
            <a:off x="640080" y="5760720"/>
            <a:ext cx="10911240" cy="685440"/>
          </a:xfrm>
          <a:prstGeom prst="roundRect">
            <a:avLst>
              <a:gd name="adj" fmla="val 13333"/>
            </a:avLst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12"/>
          <p:cNvSpPr/>
          <p:nvPr/>
        </p:nvSpPr>
        <p:spPr>
          <a:xfrm>
            <a:off x="822960" y="5760720"/>
            <a:ext cx="10545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600" spc="-1" strike="noStrike">
                <a:solidFill>
                  <a:srgbClr val="00c2a8"/>
                </a:solidFill>
                <a:latin typeface="Cambria"/>
                <a:ea typeface="Cambria"/>
              </a:rPr>
              <a:t>A diferença NÃO foi o modelo. Foi o CONTEXTO.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13"/>
          <p:cNvSpPr/>
          <p:nvPr/>
        </p:nvSpPr>
        <p:spPr>
          <a:xfrm>
            <a:off x="457200" y="64738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8c"/>
                </a:solidFill>
                <a:latin typeface="Calibri"/>
                <a:ea typeface="Calibri"/>
              </a:rPr>
              <a:t>Confraria dos Agentes · Módulo 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Image 0" descr="preencoded.png"/>
          <p:cNvPicPr/>
          <p:nvPr/>
        </p:nvPicPr>
        <p:blipFill>
          <a:blip r:embed="rId1"/>
          <a:stretch/>
        </p:blipFill>
        <p:spPr>
          <a:xfrm>
            <a:off x="5592960" y="1005840"/>
            <a:ext cx="1005480" cy="1005480"/>
          </a:xfrm>
          <a:prstGeom prst="rect">
            <a:avLst/>
          </a:prstGeom>
          <a:ln w="0">
            <a:noFill/>
          </a:ln>
        </p:spPr>
      </p:pic>
      <p:sp>
        <p:nvSpPr>
          <p:cNvPr id="224" name="Text 0"/>
          <p:cNvSpPr/>
          <p:nvPr/>
        </p:nvSpPr>
        <p:spPr>
          <a:xfrm>
            <a:off x="1097280" y="237744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Editar o contexto é o movimento profissional.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1097280" y="3291840"/>
            <a:ext cx="9996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00c2a8"/>
                </a:solidFill>
                <a:latin typeface="Cambria"/>
                <a:ea typeface="Cambria"/>
              </a:rPr>
              <a:t>Reescrever prompt é o movimento amador.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2011680" y="4480560"/>
            <a:ext cx="816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7cbe8"/>
                </a:solidFill>
                <a:latin typeface="Calibri"/>
                <a:ea typeface="Calibri"/>
              </a:rPr>
              <a:t>A especificação é uma skill descartável — você escreve uma vez, o agente executa.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3"/>
          <p:cNvSpPr/>
          <p:nvPr/>
        </p:nvSpPr>
        <p:spPr>
          <a:xfrm>
            <a:off x="457200" y="64738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8c"/>
                </a:solidFill>
                <a:latin typeface="Calibri"/>
                <a:ea typeface="Calibri"/>
              </a:rPr>
              <a:t>Confraria dos Agentes · Módulo 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 0"/>
          <p:cNvSpPr/>
          <p:nvPr/>
        </p:nvSpPr>
        <p:spPr>
          <a:xfrm>
            <a:off x="640080" y="457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00c2a8"/>
                </a:solidFill>
                <a:latin typeface="Calibri"/>
                <a:ea typeface="Calibri"/>
              </a:rPr>
              <a:t>MÓDULO 5 · TOUR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1"/>
          <p:cNvSpPr/>
          <p:nvPr/>
        </p:nvSpPr>
        <p:spPr>
          <a:xfrm>
            <a:off x="640080" y="777240"/>
            <a:ext cx="1091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1f3b"/>
                </a:solidFill>
                <a:latin typeface="Cambria"/>
                <a:ea typeface="Cambria"/>
              </a:rPr>
              <a:t>OpenWebUI — a interface principal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2"/>
          <p:cNvSpPr/>
          <p:nvPr/>
        </p:nvSpPr>
        <p:spPr>
          <a:xfrm>
            <a:off x="640080" y="1737360"/>
            <a:ext cx="502560" cy="502560"/>
          </a:xfrm>
          <a:prstGeom prst="ellipse">
            <a:avLst/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1" name="Image 0" descr="preencoded.png"/>
          <p:cNvPicPr/>
          <p:nvPr/>
        </p:nvPicPr>
        <p:blipFill>
          <a:blip r:embed="rId1"/>
          <a:stretch/>
        </p:blipFill>
        <p:spPr>
          <a:xfrm>
            <a:off x="694800" y="1792080"/>
            <a:ext cx="392760" cy="392760"/>
          </a:xfrm>
          <a:prstGeom prst="rect">
            <a:avLst/>
          </a:prstGeom>
          <a:ln w="0">
            <a:noFill/>
          </a:ln>
        </p:spPr>
      </p:pic>
      <p:sp>
        <p:nvSpPr>
          <p:cNvPr id="232" name="Text 3"/>
          <p:cNvSpPr/>
          <p:nvPr/>
        </p:nvSpPr>
        <p:spPr>
          <a:xfrm>
            <a:off x="1325880" y="1691640"/>
            <a:ext cx="10134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1f3b"/>
                </a:solidFill>
                <a:latin typeface="Calibri"/>
                <a:ea typeface="Calibri"/>
              </a:rPr>
              <a:t>Layout 3 painéis —  </a:t>
            </a:r>
            <a:r>
              <a:rPr b="0" lang="en-US" sz="1300" spc="-1" strike="noStrike">
                <a:solidFill>
                  <a:srgbClr val="20223d"/>
                </a:solidFill>
                <a:latin typeface="Calibri"/>
                <a:ea typeface="Calibri"/>
              </a:rPr>
              <a:t>sidebar (sessões) · centro (chat) · direita (workspace)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4"/>
          <p:cNvSpPr/>
          <p:nvPr/>
        </p:nvSpPr>
        <p:spPr>
          <a:xfrm>
            <a:off x="640080" y="2359080"/>
            <a:ext cx="502560" cy="502560"/>
          </a:xfrm>
          <a:prstGeom prst="ellipse">
            <a:avLst/>
          </a:prstGeom>
          <a:solidFill>
            <a:srgbClr val="00c2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4" name="Image 1" descr="preencoded.png"/>
          <p:cNvPicPr/>
          <p:nvPr/>
        </p:nvPicPr>
        <p:blipFill>
          <a:blip r:embed="rId2"/>
          <a:stretch/>
        </p:blipFill>
        <p:spPr>
          <a:xfrm>
            <a:off x="694800" y="2414160"/>
            <a:ext cx="392760" cy="392760"/>
          </a:xfrm>
          <a:prstGeom prst="rect">
            <a:avLst/>
          </a:prstGeom>
          <a:ln w="0">
            <a:noFill/>
          </a:ln>
        </p:spPr>
      </p:pic>
      <p:sp>
        <p:nvSpPr>
          <p:cNvPr id="235" name="Text 5"/>
          <p:cNvSpPr/>
          <p:nvPr/>
        </p:nvSpPr>
        <p:spPr>
          <a:xfrm>
            <a:off x="1325880" y="2313360"/>
            <a:ext cx="10134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1f3b"/>
                </a:solidFill>
                <a:latin typeface="Calibri"/>
                <a:ea typeface="Calibri"/>
              </a:rPr>
              <a:t>Tool call cards —  </a:t>
            </a:r>
            <a:r>
              <a:rPr b="0" lang="en-US" sz="1300" spc="-1" strike="noStrike">
                <a:solidFill>
                  <a:srgbClr val="20223d"/>
                </a:solidFill>
                <a:latin typeface="Calibri"/>
                <a:ea typeface="Calibri"/>
              </a:rPr>
              <a:t>cada chamada de ferramenta mostrada inline com args e resultado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6"/>
          <p:cNvSpPr/>
          <p:nvPr/>
        </p:nvSpPr>
        <p:spPr>
          <a:xfrm>
            <a:off x="640080" y="2980800"/>
            <a:ext cx="502560" cy="502560"/>
          </a:xfrm>
          <a:prstGeom prst="ellipse">
            <a:avLst/>
          </a:prstGeom>
          <a:solidFill>
            <a:srgbClr val="00c2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7" name="Image 2" descr="preencoded.png"/>
          <p:cNvPicPr/>
          <p:nvPr/>
        </p:nvPicPr>
        <p:blipFill>
          <a:blip r:embed="rId3"/>
          <a:stretch/>
        </p:blipFill>
        <p:spPr>
          <a:xfrm>
            <a:off x="694800" y="3035880"/>
            <a:ext cx="392760" cy="392760"/>
          </a:xfrm>
          <a:prstGeom prst="rect">
            <a:avLst/>
          </a:prstGeom>
          <a:ln w="0">
            <a:noFill/>
          </a:ln>
        </p:spPr>
      </p:pic>
      <p:sp>
        <p:nvSpPr>
          <p:cNvPr id="238" name="Text 7"/>
          <p:cNvSpPr/>
          <p:nvPr/>
        </p:nvSpPr>
        <p:spPr>
          <a:xfrm>
            <a:off x="1325880" y="2935080"/>
            <a:ext cx="10134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1f3b"/>
                </a:solidFill>
                <a:latin typeface="Calibri"/>
                <a:ea typeface="Calibri"/>
              </a:rPr>
              <a:t>Subagent cards —  </a:t>
            </a:r>
            <a:r>
              <a:rPr b="0" lang="en-US" sz="1300" spc="-1" strike="noStrike">
                <a:solidFill>
                  <a:srgbClr val="20223d"/>
                </a:solidFill>
                <a:latin typeface="Calibri"/>
                <a:ea typeface="Calibri"/>
              </a:rPr>
              <a:t>atividade de agentes filhos, com indentação visual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8"/>
          <p:cNvSpPr/>
          <p:nvPr/>
        </p:nvSpPr>
        <p:spPr>
          <a:xfrm>
            <a:off x="640080" y="3602880"/>
            <a:ext cx="502560" cy="502560"/>
          </a:xfrm>
          <a:prstGeom prst="ellipse">
            <a:avLst/>
          </a:prstGeom>
          <a:solidFill>
            <a:srgbClr val="ff6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0" name="Image 3" descr="preencoded.png"/>
          <p:cNvPicPr/>
          <p:nvPr/>
        </p:nvPicPr>
        <p:blipFill>
          <a:blip r:embed="rId4"/>
          <a:stretch/>
        </p:blipFill>
        <p:spPr>
          <a:xfrm>
            <a:off x="694800" y="3657600"/>
            <a:ext cx="392760" cy="392760"/>
          </a:xfrm>
          <a:prstGeom prst="rect">
            <a:avLst/>
          </a:prstGeom>
          <a:ln w="0">
            <a:noFill/>
          </a:ln>
        </p:spPr>
      </p:pic>
      <p:sp>
        <p:nvSpPr>
          <p:cNvPr id="241" name="Text 9"/>
          <p:cNvSpPr/>
          <p:nvPr/>
        </p:nvSpPr>
        <p:spPr>
          <a:xfrm>
            <a:off x="1325880" y="3557160"/>
            <a:ext cx="10134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1f3b"/>
                </a:solidFill>
                <a:latin typeface="Calibri"/>
                <a:ea typeface="Calibri"/>
              </a:rPr>
              <a:t>Reasoning blocks —  </a:t>
            </a:r>
            <a:r>
              <a:rPr b="0" lang="en-US" sz="1300" spc="-1" strike="noStrike">
                <a:solidFill>
                  <a:srgbClr val="20223d"/>
                </a:solidFill>
                <a:latin typeface="Calibri"/>
                <a:ea typeface="Calibri"/>
              </a:rPr>
              <a:t>collapsible, para low/medium/high/xhigh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0"/>
          <p:cNvSpPr/>
          <p:nvPr/>
        </p:nvSpPr>
        <p:spPr>
          <a:xfrm>
            <a:off x="640080" y="4224600"/>
            <a:ext cx="502560" cy="502560"/>
          </a:xfrm>
          <a:prstGeom prst="ellipse">
            <a:avLst/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3" name="Image 4" descr="preencoded.png"/>
          <p:cNvPicPr/>
          <p:nvPr/>
        </p:nvPicPr>
        <p:blipFill>
          <a:blip r:embed="rId5"/>
          <a:stretch/>
        </p:blipFill>
        <p:spPr>
          <a:xfrm>
            <a:off x="694800" y="4279320"/>
            <a:ext cx="392760" cy="392760"/>
          </a:xfrm>
          <a:prstGeom prst="rect">
            <a:avLst/>
          </a:prstGeom>
          <a:ln w="0">
            <a:noFill/>
          </a:ln>
        </p:spPr>
      </p:pic>
      <p:sp>
        <p:nvSpPr>
          <p:cNvPr id="244" name="Text 11"/>
          <p:cNvSpPr/>
          <p:nvPr/>
        </p:nvSpPr>
        <p:spPr>
          <a:xfrm>
            <a:off x="1325880" y="4178880"/>
            <a:ext cx="10134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1f3b"/>
                </a:solidFill>
                <a:latin typeface="Calibri"/>
                <a:ea typeface="Calibri"/>
              </a:rPr>
              <a:t>Workspace file browser —  </a:t>
            </a:r>
            <a:r>
              <a:rPr b="0" lang="en-US" sz="1300" spc="-1" strike="noStrike">
                <a:solidFill>
                  <a:srgbClr val="20223d"/>
                </a:solidFill>
                <a:latin typeface="Calibri"/>
                <a:ea typeface="Calibri"/>
              </a:rPr>
              <a:t>navegar arquivos do projeto sem sair do browser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12"/>
          <p:cNvSpPr/>
          <p:nvPr/>
        </p:nvSpPr>
        <p:spPr>
          <a:xfrm>
            <a:off x="640080" y="4892040"/>
            <a:ext cx="10911240" cy="155412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6" name="Image 5" descr="preencoded.png"/>
          <p:cNvPicPr/>
          <p:nvPr/>
        </p:nvPicPr>
        <p:blipFill>
          <a:blip r:embed="rId6"/>
          <a:stretch/>
        </p:blipFill>
        <p:spPr>
          <a:xfrm>
            <a:off x="868680" y="5120640"/>
            <a:ext cx="594000" cy="594000"/>
          </a:xfrm>
          <a:prstGeom prst="rect">
            <a:avLst/>
          </a:prstGeom>
          <a:ln w="0">
            <a:noFill/>
          </a:ln>
        </p:spPr>
      </p:pic>
      <p:sp>
        <p:nvSpPr>
          <p:cNvPr id="247" name="Text 13"/>
          <p:cNvSpPr/>
          <p:nvPr/>
        </p:nvSpPr>
        <p:spPr>
          <a:xfrm>
            <a:off x="1600200" y="5029200"/>
            <a:ext cx="98139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Aprovação de comandos (allow once / session / always / deny) é decisão de risco.  </a:t>
            </a:r>
            <a:r>
              <a:rPr b="0" lang="en-US" sz="1250" spc="-1" strike="noStrike">
                <a:solidFill>
                  <a:srgbClr val="20223d"/>
                </a:solidFill>
                <a:latin typeface="Calibri"/>
                <a:ea typeface="Calibri"/>
              </a:rPr>
              <a:t>"always" combinado com cron + Google Workspace pode ter efeito real e irreversível sem revisão humana. Regra: always só para leitura/pesquisa.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14"/>
          <p:cNvSpPr/>
          <p:nvPr/>
        </p:nvSpPr>
        <p:spPr>
          <a:xfrm>
            <a:off x="457200" y="64738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8c"/>
                </a:solidFill>
                <a:latin typeface="Calibri"/>
                <a:ea typeface="Calibri"/>
              </a:rPr>
              <a:t>Confraria dos Agentes · Módulo 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0"/>
          <p:cNvSpPr/>
          <p:nvPr/>
        </p:nvSpPr>
        <p:spPr>
          <a:xfrm>
            <a:off x="640080" y="457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00c2a8"/>
                </a:solidFill>
                <a:latin typeface="Calibri"/>
                <a:ea typeface="Calibri"/>
              </a:rPr>
              <a:t>MÓDULO 6 · 14:30 – 16:30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"/>
          <p:cNvSpPr/>
          <p:nvPr/>
        </p:nvSpPr>
        <p:spPr>
          <a:xfrm>
            <a:off x="640080" y="777240"/>
            <a:ext cx="1091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1f3b"/>
                </a:solidFill>
                <a:latin typeface="Cambria"/>
                <a:ea typeface="Cambria"/>
              </a:rPr>
              <a:t>Skills: você ensina uma vez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2"/>
          <p:cNvSpPr/>
          <p:nvPr/>
        </p:nvSpPr>
        <p:spPr>
          <a:xfrm>
            <a:off x="640080" y="1965960"/>
            <a:ext cx="5295240" cy="374868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2" name="Image 0" descr="preencoded.png"/>
          <p:cNvPicPr/>
          <p:nvPr/>
        </p:nvPicPr>
        <p:blipFill>
          <a:blip r:embed="rId1"/>
          <a:stretch/>
        </p:blipFill>
        <p:spPr>
          <a:xfrm>
            <a:off x="2876400" y="22860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253" name="Text 3"/>
          <p:cNvSpPr/>
          <p:nvPr/>
        </p:nvSpPr>
        <p:spPr>
          <a:xfrm>
            <a:off x="868680" y="3246120"/>
            <a:ext cx="483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Skill Prisma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4"/>
          <p:cNvSpPr/>
          <p:nvPr/>
        </p:nvSpPr>
        <p:spPr>
          <a:xfrm>
            <a:off x="868680" y="3840480"/>
            <a:ext cx="48380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Lê Databricks, query ou arquivo (PDF/Excel/CSV) e entrega relatório HTML interativo — dashboard, narrativo, explorador ou slideshow.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5"/>
          <p:cNvSpPr/>
          <p:nvPr/>
        </p:nvSpPr>
        <p:spPr>
          <a:xfrm>
            <a:off x="6255720" y="1965960"/>
            <a:ext cx="5295240" cy="374868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6" name="Image 1" descr="preencoded.png"/>
          <p:cNvPicPr/>
          <p:nvPr/>
        </p:nvPicPr>
        <p:blipFill>
          <a:blip r:embed="rId2"/>
          <a:stretch/>
        </p:blipFill>
        <p:spPr>
          <a:xfrm>
            <a:off x="8492400" y="22860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257" name="Text 6"/>
          <p:cNvSpPr/>
          <p:nvPr/>
        </p:nvSpPr>
        <p:spPr>
          <a:xfrm>
            <a:off x="6484320" y="3246120"/>
            <a:ext cx="483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Skill Pack Matt Pocock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7"/>
          <p:cNvSpPr/>
          <p:nvPr/>
        </p:nvSpPr>
        <p:spPr>
          <a:xfrm>
            <a:off x="6484320" y="3840480"/>
            <a:ext cx="48380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177 mil estrelas no GitHub. /grill-me, /to-spec, /to-tickets, /implement, /code-review, /tdd e mais — engenharia de software real.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8"/>
          <p:cNvSpPr/>
          <p:nvPr/>
        </p:nvSpPr>
        <p:spPr>
          <a:xfrm>
            <a:off x="457200" y="64738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8c"/>
                </a:solidFill>
                <a:latin typeface="Calibri"/>
                <a:ea typeface="Calibri"/>
              </a:rPr>
              <a:t>Confraria dos Agentes · Módulo 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0"/>
          <p:cNvSpPr/>
          <p:nvPr/>
        </p:nvSpPr>
        <p:spPr>
          <a:xfrm>
            <a:off x="640080" y="457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00c2a8"/>
                </a:solidFill>
                <a:latin typeface="Calibri"/>
                <a:ea typeface="Calibri"/>
              </a:rPr>
              <a:t>MÓDULO 6 · 14:30 – 16:30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"/>
          <p:cNvSpPr/>
          <p:nvPr/>
        </p:nvSpPr>
        <p:spPr>
          <a:xfrm>
            <a:off x="640080" y="777240"/>
            <a:ext cx="1091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1f3b"/>
                </a:solidFill>
                <a:latin typeface="Cambria"/>
                <a:ea typeface="Cambria"/>
              </a:rPr>
              <a:t>/goal vs /delegate_task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"/>
          <p:cNvSpPr/>
          <p:nvPr/>
        </p:nvSpPr>
        <p:spPr>
          <a:xfrm>
            <a:off x="640080" y="1783080"/>
            <a:ext cx="5181120" cy="411444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3" name="Image 0" descr="preencoded.png"/>
          <p:cNvPicPr/>
          <p:nvPr/>
        </p:nvPicPr>
        <p:blipFill>
          <a:blip r:embed="rId1"/>
          <a:stretch/>
        </p:blipFill>
        <p:spPr>
          <a:xfrm>
            <a:off x="2864880" y="2011680"/>
            <a:ext cx="731160" cy="731160"/>
          </a:xfrm>
          <a:prstGeom prst="rect">
            <a:avLst/>
          </a:prstGeom>
          <a:ln w="0">
            <a:noFill/>
          </a:ln>
        </p:spPr>
      </p:pic>
      <p:sp>
        <p:nvSpPr>
          <p:cNvPr id="264" name="Text 3"/>
          <p:cNvSpPr/>
          <p:nvPr/>
        </p:nvSpPr>
        <p:spPr>
          <a:xfrm>
            <a:off x="822960" y="2834640"/>
            <a:ext cx="4815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b1f3b"/>
                </a:solidFill>
                <a:latin typeface="Cambria"/>
                <a:ea typeface="Cambria"/>
              </a:rPr>
              <a:t>/goal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4"/>
          <p:cNvSpPr/>
          <p:nvPr/>
        </p:nvSpPr>
        <p:spPr>
          <a:xfrm>
            <a:off x="822960" y="3246120"/>
            <a:ext cx="4815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b6f8c"/>
                </a:solidFill>
                <a:latin typeface="Calibri"/>
                <a:ea typeface="Calibri"/>
              </a:rPr>
              <a:t>1 agente · sequencial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5"/>
          <p:cNvSpPr/>
          <p:nvPr/>
        </p:nvSpPr>
        <p:spPr>
          <a:xfrm>
            <a:off x="914400" y="3749040"/>
            <a:ext cx="46324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20223d"/>
              </a:buClr>
              <a:buFont typeface="OpenSymbol"/>
              <a:buChar char="▪"/>
            </a:pPr>
            <a:r>
              <a:rPr b="0" lang="en-US" sz="1250" spc="-1" strike="noStrike">
                <a:solidFill>
                  <a:srgbClr val="20223d"/>
                </a:solidFill>
                <a:latin typeface="Calibri"/>
                <a:ea typeface="Calibri"/>
              </a:rPr>
              <a:t>Tarefa linear, múltiplos passos em sequência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20223d"/>
              </a:buClr>
              <a:buFont typeface="OpenSymbol"/>
              <a:buChar char="▪"/>
            </a:pPr>
            <a:r>
              <a:rPr b="0" lang="en-US" sz="1250" spc="-1" strike="noStrike">
                <a:solidFill>
                  <a:srgbClr val="20223d"/>
                </a:solidFill>
                <a:latin typeface="Calibri"/>
                <a:ea typeface="Calibri"/>
              </a:rPr>
              <a:t>O agente gerencia a ordem sozinho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20223d"/>
              </a:buClr>
              <a:buFont typeface="OpenSymbol"/>
              <a:buChar char="▪"/>
            </a:pPr>
            <a:r>
              <a:rPr b="0" lang="en-US" sz="1250" spc="-1" strike="noStrike">
                <a:solidFill>
                  <a:srgbClr val="20223d"/>
                </a:solidFill>
                <a:latin typeface="Calibri"/>
                <a:ea typeface="Calibri"/>
              </a:rPr>
              <a:t>Ex: pesquisar → relatório → HTML estilizado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6"/>
          <p:cNvSpPr/>
          <p:nvPr/>
        </p:nvSpPr>
        <p:spPr>
          <a:xfrm>
            <a:off x="6370200" y="1783080"/>
            <a:ext cx="5181120" cy="4114440"/>
          </a:xfrm>
          <a:prstGeom prst="roundRect">
            <a:avLst>
              <a:gd name="adj" fmla="val 2667"/>
            </a:avLst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8" name="Image 1" descr="preencoded.png"/>
          <p:cNvPicPr/>
          <p:nvPr/>
        </p:nvPicPr>
        <p:blipFill>
          <a:blip r:embed="rId2"/>
          <a:stretch/>
        </p:blipFill>
        <p:spPr>
          <a:xfrm>
            <a:off x="8595000" y="2011680"/>
            <a:ext cx="731160" cy="731160"/>
          </a:xfrm>
          <a:prstGeom prst="rect">
            <a:avLst/>
          </a:prstGeom>
          <a:ln w="0">
            <a:noFill/>
          </a:ln>
        </p:spPr>
      </p:pic>
      <p:sp>
        <p:nvSpPr>
          <p:cNvPr id="269" name="Text 7"/>
          <p:cNvSpPr/>
          <p:nvPr/>
        </p:nvSpPr>
        <p:spPr>
          <a:xfrm>
            <a:off x="6553080" y="2834640"/>
            <a:ext cx="4815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/delegate_task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8"/>
          <p:cNvSpPr/>
          <p:nvPr/>
        </p:nvSpPr>
        <p:spPr>
          <a:xfrm>
            <a:off x="6553080" y="3246120"/>
            <a:ext cx="4815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7cbe8"/>
                </a:solidFill>
                <a:latin typeface="Calibri"/>
                <a:ea typeface="Calibri"/>
              </a:rPr>
              <a:t>Até N agentes · paralelo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9"/>
          <p:cNvSpPr/>
          <p:nvPr/>
        </p:nvSpPr>
        <p:spPr>
          <a:xfrm>
            <a:off x="6644520" y="3749040"/>
            <a:ext cx="46324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dde1f5"/>
              </a:buClr>
              <a:buFont typeface="OpenSymbol"/>
              <a:buChar char="▪"/>
            </a:pPr>
            <a:r>
              <a:rPr b="0" lang="en-US" sz="1250" spc="-1" strike="noStrike">
                <a:solidFill>
                  <a:srgbClr val="dde1f5"/>
                </a:solidFill>
                <a:latin typeface="Calibri"/>
                <a:ea typeface="Calibri"/>
              </a:rPr>
              <a:t>Tarefas independentes entre si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dde1f5"/>
              </a:buClr>
              <a:buFont typeface="OpenSymbol"/>
              <a:buChar char="▪"/>
            </a:pPr>
            <a:r>
              <a:rPr b="0" lang="en-US" sz="1250" spc="-1" strike="noStrike">
                <a:solidFill>
                  <a:srgbClr val="dde1f5"/>
                </a:solidFill>
                <a:latin typeface="Calibri"/>
                <a:ea typeface="Calibri"/>
              </a:rPr>
              <a:t>Cada ticket vira um agente isolado, todos rodam ao mesmo tempo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dde1f5"/>
              </a:buClr>
              <a:buFont typeface="OpenSymbol"/>
              <a:buChar char="▪"/>
            </a:pPr>
            <a:r>
              <a:rPr b="0" lang="en-US" sz="1250" spc="-1" strike="noStrike">
                <a:solidFill>
                  <a:srgbClr val="dde1f5"/>
                </a:solidFill>
                <a:latin typeface="Calibri"/>
                <a:ea typeface="Calibri"/>
              </a:rPr>
              <a:t>Ex: grill-me → to-tickets → 3 agentes paralelos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0"/>
          <p:cNvSpPr/>
          <p:nvPr/>
        </p:nvSpPr>
        <p:spPr>
          <a:xfrm>
            <a:off x="640080" y="603504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ff6b4a"/>
                </a:solidFill>
                <a:latin typeface="Calibri"/>
                <a:ea typeface="Calibri"/>
              </a:rPr>
              <a:t>Regra prática: passos dependentes → /goal. Tarefas independentes → /delegate_task.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11"/>
          <p:cNvSpPr/>
          <p:nvPr/>
        </p:nvSpPr>
        <p:spPr>
          <a:xfrm>
            <a:off x="457200" y="64738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8c"/>
                </a:solidFill>
                <a:latin typeface="Calibri"/>
                <a:ea typeface="Calibri"/>
              </a:rPr>
              <a:t>Confraria dos Agentes · Módulo 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0"/>
          <p:cNvSpPr/>
          <p:nvPr/>
        </p:nvSpPr>
        <p:spPr>
          <a:xfrm>
            <a:off x="640080" y="457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00c2a8"/>
                </a:solidFill>
                <a:latin typeface="Calibri"/>
                <a:ea typeface="Calibri"/>
              </a:rPr>
              <a:t>MÓDULO 7 · 16:30 – 16:55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1"/>
          <p:cNvSpPr/>
          <p:nvPr/>
        </p:nvSpPr>
        <p:spPr>
          <a:xfrm>
            <a:off x="640080" y="777240"/>
            <a:ext cx="1091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1f3b"/>
                </a:solidFill>
                <a:latin typeface="Cambria"/>
                <a:ea typeface="Cambria"/>
              </a:rPr>
              <a:t>MCP: agentes conectados ao mundo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2"/>
          <p:cNvSpPr/>
          <p:nvPr/>
        </p:nvSpPr>
        <p:spPr>
          <a:xfrm>
            <a:off x="640080" y="1737360"/>
            <a:ext cx="5120280" cy="2102760"/>
          </a:xfrm>
          <a:prstGeom prst="roundRect">
            <a:avLst>
              <a:gd name="adj" fmla="val 5217"/>
            </a:avLst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7" name="Image 0" descr="preencoded.png"/>
          <p:cNvPicPr/>
          <p:nvPr/>
        </p:nvPicPr>
        <p:blipFill>
          <a:blip r:embed="rId1"/>
          <a:stretch/>
        </p:blipFill>
        <p:spPr>
          <a:xfrm>
            <a:off x="868680" y="233172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278" name="Text 3"/>
          <p:cNvSpPr/>
          <p:nvPr/>
        </p:nvSpPr>
        <p:spPr>
          <a:xfrm>
            <a:off x="1965960" y="2331720"/>
            <a:ext cx="3931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Agente  </a:t>
            </a:r>
            <a:r>
              <a:rPr b="1" lang="en-US" sz="1350" spc="-1" strike="noStrike">
                <a:solidFill>
                  <a:srgbClr val="00c2a8"/>
                </a:solidFill>
                <a:latin typeface="Calibri"/>
                <a:ea typeface="Calibri"/>
              </a:rPr>
              <a:t>&lt;-&gt;  MCP  &lt;-&gt;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API / Banco / Plataforma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4"/>
          <p:cNvSpPr/>
          <p:nvPr/>
        </p:nvSpPr>
        <p:spPr>
          <a:xfrm>
            <a:off x="868680" y="178308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7cbe8"/>
                </a:solidFill>
                <a:latin typeface="Calibri"/>
                <a:ea typeface="Calibri"/>
              </a:rPr>
              <a:t>Padrão universal para o agente conversar com serviço externo.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5"/>
          <p:cNvSpPr/>
          <p:nvPr/>
        </p:nvSpPr>
        <p:spPr>
          <a:xfrm>
            <a:off x="640080" y="4023360"/>
            <a:ext cx="5295240" cy="2148480"/>
          </a:xfrm>
          <a:prstGeom prst="roundRect">
            <a:avLst>
              <a:gd name="adj" fmla="val 5106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1" name="Image 1" descr="preencoded.png"/>
          <p:cNvPicPr/>
          <p:nvPr/>
        </p:nvPicPr>
        <p:blipFill>
          <a:blip r:embed="rId2"/>
          <a:stretch/>
        </p:blipFill>
        <p:spPr>
          <a:xfrm>
            <a:off x="2876400" y="43434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282" name="Text 6"/>
          <p:cNvSpPr/>
          <p:nvPr/>
        </p:nvSpPr>
        <p:spPr>
          <a:xfrm>
            <a:off x="868680" y="5303520"/>
            <a:ext cx="483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OpenRouter MCP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7"/>
          <p:cNvSpPr/>
          <p:nvPr/>
        </p:nvSpPr>
        <p:spPr>
          <a:xfrm>
            <a:off x="868680" y="5897880"/>
            <a:ext cx="4838040" cy="4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Consulta modelos e preços em tempo real, saldo de créditos, escolhe modelo ideal.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8"/>
          <p:cNvSpPr/>
          <p:nvPr/>
        </p:nvSpPr>
        <p:spPr>
          <a:xfrm>
            <a:off x="6255720" y="4023360"/>
            <a:ext cx="5295240" cy="2148480"/>
          </a:xfrm>
          <a:prstGeom prst="roundRect">
            <a:avLst>
              <a:gd name="adj" fmla="val 5106"/>
            </a:avLst>
          </a:prstGeom>
          <a:solidFill>
            <a:srgbClr val="f4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5" name="Image 2" descr="preencoded.png"/>
          <p:cNvPicPr/>
          <p:nvPr/>
        </p:nvPicPr>
        <p:blipFill>
          <a:blip r:embed="rId3"/>
          <a:stretch/>
        </p:blipFill>
        <p:spPr>
          <a:xfrm>
            <a:off x="8492400" y="43434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286" name="Text 9"/>
          <p:cNvSpPr/>
          <p:nvPr/>
        </p:nvSpPr>
        <p:spPr>
          <a:xfrm>
            <a:off x="6484320" y="5303520"/>
            <a:ext cx="483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Gupy MCP (via Apify)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10"/>
          <p:cNvSpPr/>
          <p:nvPr/>
        </p:nvSpPr>
        <p:spPr>
          <a:xfrm>
            <a:off x="6484320" y="5897880"/>
            <a:ext cx="4838040" cy="4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0223d"/>
                </a:solidFill>
                <a:latin typeface="Calibri"/>
                <a:ea typeface="Calibri"/>
              </a:rPr>
              <a:t>Busca vagas de emprego direto no chat, com conta Apify + token.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11"/>
          <p:cNvSpPr/>
          <p:nvPr/>
        </p:nvSpPr>
        <p:spPr>
          <a:xfrm>
            <a:off x="457200" y="64738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8c"/>
                </a:solidFill>
                <a:latin typeface="Calibri"/>
                <a:ea typeface="Calibri"/>
              </a:rPr>
              <a:t>Confraria dos Agentes · Módulo 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 0"/>
          <p:cNvSpPr/>
          <p:nvPr/>
        </p:nvSpPr>
        <p:spPr>
          <a:xfrm>
            <a:off x="640080" y="457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00c2a8"/>
                </a:solidFill>
                <a:latin typeface="Calibri"/>
                <a:ea typeface="Calibri"/>
              </a:rPr>
              <a:t>MÓDULO 8 · 17:05 – 17:35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1"/>
          <p:cNvSpPr/>
          <p:nvPr/>
        </p:nvSpPr>
        <p:spPr>
          <a:xfrm>
            <a:off x="640080" y="777240"/>
            <a:ext cx="1091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1f3b"/>
                </a:solidFill>
                <a:latin typeface="Cambria"/>
                <a:ea typeface="Cambria"/>
              </a:rPr>
              <a:t>Autonomia: cron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2"/>
          <p:cNvSpPr/>
          <p:nvPr/>
        </p:nvSpPr>
        <p:spPr>
          <a:xfrm>
            <a:off x="640080" y="15087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ff6b4a"/>
                </a:solidFill>
                <a:latin typeface="Calibri"/>
                <a:ea typeface="Calibri"/>
              </a:rPr>
              <a:t>O agente trabalha sozinho. Você só recebe o resultado.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3"/>
          <p:cNvSpPr/>
          <p:nvPr/>
        </p:nvSpPr>
        <p:spPr>
          <a:xfrm>
            <a:off x="640080" y="2011680"/>
            <a:ext cx="10911240" cy="21027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3" name="Image 0" descr="preencoded.png"/>
          <p:cNvPicPr/>
          <p:nvPr/>
        </p:nvPicPr>
        <p:blipFill>
          <a:blip r:embed="rId1"/>
          <a:stretch/>
        </p:blipFill>
        <p:spPr>
          <a:xfrm>
            <a:off x="868680" y="2240280"/>
            <a:ext cx="776880" cy="776880"/>
          </a:xfrm>
          <a:prstGeom prst="rect">
            <a:avLst/>
          </a:prstGeom>
          <a:ln w="0">
            <a:noFill/>
          </a:ln>
        </p:spPr>
      </p:pic>
      <p:sp>
        <p:nvSpPr>
          <p:cNvPr id="294" name="Text 4"/>
          <p:cNvSpPr/>
          <p:nvPr/>
        </p:nvSpPr>
        <p:spPr>
          <a:xfrm>
            <a:off x="1783080" y="224028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1f3b"/>
                </a:solidFill>
                <a:latin typeface="Cambria"/>
                <a:ea typeface="Cambria"/>
              </a:rPr>
              <a:t>Agenda o que foi construído no Módulo 6.5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5"/>
          <p:cNvSpPr/>
          <p:nvPr/>
        </p:nvSpPr>
        <p:spPr>
          <a:xfrm>
            <a:off x="1783080" y="2697480"/>
            <a:ext cx="89607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0223d"/>
                </a:solidFill>
                <a:latin typeface="Calibri"/>
                <a:ea typeface="Calibri"/>
              </a:rPr>
              <a:t>O sistema de monitoramento de preços (coletor + comparação + alerta no Telegram) roda sozinho, todo dia às 9h — sem ninguém revisando.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6"/>
          <p:cNvSpPr/>
          <p:nvPr/>
        </p:nvSpPr>
        <p:spPr>
          <a:xfrm>
            <a:off x="640080" y="4434840"/>
            <a:ext cx="502560" cy="502560"/>
          </a:xfrm>
          <a:prstGeom prst="ellipse">
            <a:avLst/>
          </a:prstGeom>
          <a:solidFill>
            <a:srgbClr val="00c2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7" name="Image 1" descr="preencoded.png"/>
          <p:cNvPicPr/>
          <p:nvPr/>
        </p:nvPicPr>
        <p:blipFill>
          <a:blip r:embed="rId2"/>
          <a:stretch/>
        </p:blipFill>
        <p:spPr>
          <a:xfrm>
            <a:off x="694800" y="4489560"/>
            <a:ext cx="392760" cy="392760"/>
          </a:xfrm>
          <a:prstGeom prst="rect">
            <a:avLst/>
          </a:prstGeom>
          <a:ln w="0">
            <a:noFill/>
          </a:ln>
        </p:spPr>
      </p:pic>
      <p:sp>
        <p:nvSpPr>
          <p:cNvPr id="298" name="Text 7"/>
          <p:cNvSpPr/>
          <p:nvPr/>
        </p:nvSpPr>
        <p:spPr>
          <a:xfrm>
            <a:off x="1325880" y="4389120"/>
            <a:ext cx="10134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1f3b"/>
                </a:solidFill>
                <a:latin typeface="Calibri"/>
                <a:ea typeface="Calibri"/>
              </a:rPr>
              <a:t>Cron + Telegram —  </a:t>
            </a:r>
            <a:r>
              <a:rPr b="0" lang="en-US" sz="1300" spc="-1" strike="noStrike">
                <a:solidFill>
                  <a:srgbClr val="20223d"/>
                </a:solidFill>
                <a:latin typeface="Calibri"/>
                <a:ea typeface="Calibri"/>
              </a:rPr>
              <a:t>alerta de mudança de preço chega no celular sem revisão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8"/>
          <p:cNvSpPr/>
          <p:nvPr/>
        </p:nvSpPr>
        <p:spPr>
          <a:xfrm>
            <a:off x="640080" y="5056560"/>
            <a:ext cx="502560" cy="502560"/>
          </a:xfrm>
          <a:prstGeom prst="ellipse">
            <a:avLst/>
          </a:prstGeom>
          <a:solidFill>
            <a:srgbClr val="1b1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0" name="Image 2" descr="preencoded.png"/>
          <p:cNvPicPr/>
          <p:nvPr/>
        </p:nvPicPr>
        <p:blipFill>
          <a:blip r:embed="rId3"/>
          <a:stretch/>
        </p:blipFill>
        <p:spPr>
          <a:xfrm>
            <a:off x="694800" y="5111640"/>
            <a:ext cx="392760" cy="392760"/>
          </a:xfrm>
          <a:prstGeom prst="rect">
            <a:avLst/>
          </a:prstGeom>
          <a:ln w="0">
            <a:noFill/>
          </a:ln>
        </p:spPr>
      </p:pic>
      <p:sp>
        <p:nvSpPr>
          <p:cNvPr id="301" name="Text 9"/>
          <p:cNvSpPr/>
          <p:nvPr/>
        </p:nvSpPr>
        <p:spPr>
          <a:xfrm>
            <a:off x="1325880" y="5010840"/>
            <a:ext cx="10134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1f3b"/>
                </a:solidFill>
                <a:latin typeface="Calibri"/>
                <a:ea typeface="Calibri"/>
              </a:rPr>
              <a:t>Cron + Google Workspace —  </a:t>
            </a:r>
            <a:r>
              <a:rPr b="0" lang="en-US" sz="1300" spc="-1" strike="noStrike">
                <a:solidFill>
                  <a:srgbClr val="20223d"/>
                </a:solidFill>
                <a:latin typeface="Calibri"/>
                <a:ea typeface="Calibri"/>
              </a:rPr>
              <a:t>agente arquiva emails, cria eventos na agenda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10"/>
          <p:cNvSpPr/>
          <p:nvPr/>
        </p:nvSpPr>
        <p:spPr>
          <a:xfrm>
            <a:off x="640080" y="5678280"/>
            <a:ext cx="502560" cy="502560"/>
          </a:xfrm>
          <a:prstGeom prst="ellipse">
            <a:avLst/>
          </a:prstGeom>
          <a:solidFill>
            <a:srgbClr val="ff6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3" name="Image 3" descr="preencoded.png"/>
          <p:cNvPicPr/>
          <p:nvPr/>
        </p:nvPicPr>
        <p:blipFill>
          <a:blip r:embed="rId4"/>
          <a:stretch/>
        </p:blipFill>
        <p:spPr>
          <a:xfrm>
            <a:off x="694800" y="5733360"/>
            <a:ext cx="392760" cy="392760"/>
          </a:xfrm>
          <a:prstGeom prst="rect">
            <a:avLst/>
          </a:prstGeom>
          <a:ln w="0">
            <a:noFill/>
          </a:ln>
        </p:spPr>
      </p:pic>
      <p:sp>
        <p:nvSpPr>
          <p:cNvPr id="304" name="Text 11"/>
          <p:cNvSpPr/>
          <p:nvPr/>
        </p:nvSpPr>
        <p:spPr>
          <a:xfrm>
            <a:off x="1325880" y="5632560"/>
            <a:ext cx="10134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1f3b"/>
                </a:solidFill>
                <a:latin typeface="Calibri"/>
                <a:ea typeface="Calibri"/>
              </a:rPr>
              <a:t>hermes cron list —  </a:t>
            </a:r>
            <a:r>
              <a:rPr b="0" lang="en-US" sz="1300" spc="-1" strike="noStrike">
                <a:solidFill>
                  <a:srgbClr val="20223d"/>
                </a:solidFill>
                <a:latin typeface="Calibri"/>
                <a:ea typeface="Calibri"/>
              </a:rPr>
              <a:t>ver todos os agendamentos ativos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12"/>
          <p:cNvSpPr/>
          <p:nvPr/>
        </p:nvSpPr>
        <p:spPr>
          <a:xfrm>
            <a:off x="457200" y="64738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8c"/>
                </a:solidFill>
                <a:latin typeface="Calibri"/>
                <a:ea typeface="Calibri"/>
              </a:rPr>
              <a:t>Confraria dos Agentes · Módulo 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0"/>
          <p:cNvSpPr/>
          <p:nvPr/>
        </p:nvSpPr>
        <p:spPr>
          <a:xfrm>
            <a:off x="640080" y="457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00c2a8"/>
                </a:solidFill>
                <a:latin typeface="Calibri"/>
                <a:ea typeface="Calibri"/>
              </a:rPr>
              <a:t>FECHAMENTO · 17:35 – 17:50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1"/>
          <p:cNvSpPr/>
          <p:nvPr/>
        </p:nvSpPr>
        <p:spPr>
          <a:xfrm>
            <a:off x="640080" y="777240"/>
            <a:ext cx="1091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Recap dos entregáveis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2"/>
          <p:cNvSpPr/>
          <p:nvPr/>
        </p:nvSpPr>
        <p:spPr>
          <a:xfrm>
            <a:off x="640080" y="1828800"/>
            <a:ext cx="3453840" cy="1051200"/>
          </a:xfrm>
          <a:prstGeom prst="roundRect">
            <a:avLst>
              <a:gd name="adj" fmla="val 8696"/>
            </a:avLst>
          </a:prstGeom>
          <a:solidFill>
            <a:srgbClr val="24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9" name="Image 0" descr="preencoded.png"/>
          <p:cNvPicPr/>
          <p:nvPr/>
        </p:nvPicPr>
        <p:blipFill>
          <a:blip r:embed="rId1"/>
          <a:stretch/>
        </p:blipFill>
        <p:spPr>
          <a:xfrm>
            <a:off x="868680" y="212616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310" name="Text 3"/>
          <p:cNvSpPr/>
          <p:nvPr/>
        </p:nvSpPr>
        <p:spPr>
          <a:xfrm>
            <a:off x="1463040" y="1828800"/>
            <a:ext cx="24480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Conta OpenRouter + API key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4"/>
          <p:cNvSpPr/>
          <p:nvPr/>
        </p:nvSpPr>
        <p:spPr>
          <a:xfrm>
            <a:off x="4368600" y="1828800"/>
            <a:ext cx="3453840" cy="1051200"/>
          </a:xfrm>
          <a:prstGeom prst="roundRect">
            <a:avLst>
              <a:gd name="adj" fmla="val 8696"/>
            </a:avLst>
          </a:prstGeom>
          <a:solidFill>
            <a:srgbClr val="24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2" name="Image 1" descr="preencoded.png"/>
          <p:cNvPicPr/>
          <p:nvPr/>
        </p:nvPicPr>
        <p:blipFill>
          <a:blip r:embed="rId2"/>
          <a:stretch/>
        </p:blipFill>
        <p:spPr>
          <a:xfrm>
            <a:off x="4597200" y="212616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313" name="Text 5"/>
          <p:cNvSpPr/>
          <p:nvPr/>
        </p:nvSpPr>
        <p:spPr>
          <a:xfrm>
            <a:off x="5191560" y="1828800"/>
            <a:ext cx="24480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Hermes Agent instalado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6"/>
          <p:cNvSpPr/>
          <p:nvPr/>
        </p:nvSpPr>
        <p:spPr>
          <a:xfrm>
            <a:off x="8097480" y="1828800"/>
            <a:ext cx="3453840" cy="1051200"/>
          </a:xfrm>
          <a:prstGeom prst="roundRect">
            <a:avLst>
              <a:gd name="adj" fmla="val 8696"/>
            </a:avLst>
          </a:prstGeom>
          <a:solidFill>
            <a:srgbClr val="24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5" name="Image 2" descr="preencoded.png"/>
          <p:cNvPicPr/>
          <p:nvPr/>
        </p:nvPicPr>
        <p:blipFill>
          <a:blip r:embed="rId3"/>
          <a:stretch/>
        </p:blipFill>
        <p:spPr>
          <a:xfrm>
            <a:off x="8326080" y="212616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316" name="Text 7"/>
          <p:cNvSpPr/>
          <p:nvPr/>
        </p:nvSpPr>
        <p:spPr>
          <a:xfrm>
            <a:off x="8920440" y="1828800"/>
            <a:ext cx="24480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DeepSeek V4 Pro padrão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Shape 8"/>
          <p:cNvSpPr/>
          <p:nvPr/>
        </p:nvSpPr>
        <p:spPr>
          <a:xfrm>
            <a:off x="640080" y="3108960"/>
            <a:ext cx="3453840" cy="1051200"/>
          </a:xfrm>
          <a:prstGeom prst="roundRect">
            <a:avLst>
              <a:gd name="adj" fmla="val 8696"/>
            </a:avLst>
          </a:prstGeom>
          <a:solidFill>
            <a:srgbClr val="24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8" name="Image 3" descr="preencoded.png"/>
          <p:cNvPicPr/>
          <p:nvPr/>
        </p:nvPicPr>
        <p:blipFill>
          <a:blip r:embed="rId4"/>
          <a:stretch/>
        </p:blipFill>
        <p:spPr>
          <a:xfrm>
            <a:off x="868680" y="340632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319" name="Text 9"/>
          <p:cNvSpPr/>
          <p:nvPr/>
        </p:nvSpPr>
        <p:spPr>
          <a:xfrm>
            <a:off x="1463040" y="3108960"/>
            <a:ext cx="24480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Telegram conectado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10"/>
          <p:cNvSpPr/>
          <p:nvPr/>
        </p:nvSpPr>
        <p:spPr>
          <a:xfrm>
            <a:off x="4368600" y="3108960"/>
            <a:ext cx="3453840" cy="1051200"/>
          </a:xfrm>
          <a:prstGeom prst="roundRect">
            <a:avLst>
              <a:gd name="adj" fmla="val 8696"/>
            </a:avLst>
          </a:prstGeom>
          <a:solidFill>
            <a:srgbClr val="24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1" name="Image 4" descr="preencoded.png"/>
          <p:cNvPicPr/>
          <p:nvPr/>
        </p:nvPicPr>
        <p:blipFill>
          <a:blip r:embed="rId5"/>
          <a:stretch/>
        </p:blipFill>
        <p:spPr>
          <a:xfrm>
            <a:off x="4597200" y="340632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322" name="Text 11"/>
          <p:cNvSpPr/>
          <p:nvPr/>
        </p:nvSpPr>
        <p:spPr>
          <a:xfrm>
            <a:off x="5191560" y="3108960"/>
            <a:ext cx="24480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Google Workspace integrado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12"/>
          <p:cNvSpPr/>
          <p:nvPr/>
        </p:nvSpPr>
        <p:spPr>
          <a:xfrm>
            <a:off x="8097480" y="3108960"/>
            <a:ext cx="3453840" cy="1051200"/>
          </a:xfrm>
          <a:prstGeom prst="roundRect">
            <a:avLst>
              <a:gd name="adj" fmla="val 8696"/>
            </a:avLst>
          </a:prstGeom>
          <a:solidFill>
            <a:srgbClr val="24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4" name="Image 5" descr="preencoded.png"/>
          <p:cNvPicPr/>
          <p:nvPr/>
        </p:nvPicPr>
        <p:blipFill>
          <a:blip r:embed="rId6"/>
          <a:stretch/>
        </p:blipFill>
        <p:spPr>
          <a:xfrm>
            <a:off x="8326080" y="340632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325" name="Text 13"/>
          <p:cNvSpPr/>
          <p:nvPr/>
        </p:nvSpPr>
        <p:spPr>
          <a:xfrm>
            <a:off x="8920440" y="3108960"/>
            <a:ext cx="24480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OpenWebUI no ar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Shape 14"/>
          <p:cNvSpPr/>
          <p:nvPr/>
        </p:nvSpPr>
        <p:spPr>
          <a:xfrm>
            <a:off x="640080" y="4389120"/>
            <a:ext cx="3453840" cy="1051200"/>
          </a:xfrm>
          <a:prstGeom prst="roundRect">
            <a:avLst>
              <a:gd name="adj" fmla="val 8696"/>
            </a:avLst>
          </a:prstGeom>
          <a:solidFill>
            <a:srgbClr val="24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7" name="Image 6" descr="preencoded.png"/>
          <p:cNvPicPr/>
          <p:nvPr/>
        </p:nvPicPr>
        <p:blipFill>
          <a:blip r:embed="rId7"/>
          <a:stretch/>
        </p:blipFill>
        <p:spPr>
          <a:xfrm>
            <a:off x="868680" y="468648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328" name="Text 15"/>
          <p:cNvSpPr/>
          <p:nvPr/>
        </p:nvSpPr>
        <p:spPr>
          <a:xfrm>
            <a:off x="1463040" y="4389120"/>
            <a:ext cx="24480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Prisma + Matt Pocock instaladas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16"/>
          <p:cNvSpPr/>
          <p:nvPr/>
        </p:nvSpPr>
        <p:spPr>
          <a:xfrm>
            <a:off x="4368600" y="4389120"/>
            <a:ext cx="3453840" cy="1051200"/>
          </a:xfrm>
          <a:prstGeom prst="roundRect">
            <a:avLst>
              <a:gd name="adj" fmla="val 8696"/>
            </a:avLst>
          </a:prstGeom>
          <a:solidFill>
            <a:srgbClr val="24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0" name="Image 7" descr="preencoded.png"/>
          <p:cNvPicPr/>
          <p:nvPr/>
        </p:nvPicPr>
        <p:blipFill>
          <a:blip r:embed="rId8"/>
          <a:stretch/>
        </p:blipFill>
        <p:spPr>
          <a:xfrm>
            <a:off x="4597200" y="468648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331" name="Text 17"/>
          <p:cNvSpPr/>
          <p:nvPr/>
        </p:nvSpPr>
        <p:spPr>
          <a:xfrm>
            <a:off x="5191560" y="4389120"/>
            <a:ext cx="24480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MCP (OpenRouter + Gupy)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Shape 18"/>
          <p:cNvSpPr/>
          <p:nvPr/>
        </p:nvSpPr>
        <p:spPr>
          <a:xfrm>
            <a:off x="8097480" y="4389120"/>
            <a:ext cx="3453840" cy="1051200"/>
          </a:xfrm>
          <a:prstGeom prst="roundRect">
            <a:avLst>
              <a:gd name="adj" fmla="val 8696"/>
            </a:avLst>
          </a:prstGeom>
          <a:solidFill>
            <a:srgbClr val="24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3" name="Image 8" descr="preencoded.png"/>
          <p:cNvPicPr/>
          <p:nvPr/>
        </p:nvPicPr>
        <p:blipFill>
          <a:blip r:embed="rId9"/>
          <a:stretch/>
        </p:blipFill>
        <p:spPr>
          <a:xfrm>
            <a:off x="8326080" y="468648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334" name="Text 19"/>
          <p:cNvSpPr/>
          <p:nvPr/>
        </p:nvSpPr>
        <p:spPr>
          <a:xfrm>
            <a:off x="8920440" y="4389120"/>
            <a:ext cx="24480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Monitoramento de preços agendado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20"/>
          <p:cNvSpPr/>
          <p:nvPr/>
        </p:nvSpPr>
        <p:spPr>
          <a:xfrm>
            <a:off x="457200" y="64738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8c"/>
                </a:solidFill>
                <a:latin typeface="Calibri"/>
                <a:ea typeface="Calibri"/>
              </a:rPr>
              <a:t>Confraria dos Agentes · Fechamento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 0"/>
          <p:cNvSpPr/>
          <p:nvPr/>
        </p:nvSpPr>
        <p:spPr>
          <a:xfrm>
            <a:off x="640080" y="457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00c2a8"/>
                </a:solidFill>
                <a:latin typeface="Calibri"/>
                <a:ea typeface="Calibri"/>
              </a:rPr>
              <a:t>TIMELINE RESUMIDA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1"/>
          <p:cNvSpPr/>
          <p:nvPr/>
        </p:nvSpPr>
        <p:spPr>
          <a:xfrm>
            <a:off x="640080" y="777240"/>
            <a:ext cx="1091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1f3b"/>
                </a:solidFill>
                <a:latin typeface="Cambria"/>
                <a:ea typeface="Cambria"/>
              </a:rPr>
              <a:t>O dia inteiro, de relance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38" name="Table 0"/>
          <p:cNvGraphicFramePr/>
          <p:nvPr/>
        </p:nvGraphicFramePr>
        <p:xfrm>
          <a:off x="640080" y="1691640"/>
          <a:ext cx="10911240" cy="4635720"/>
        </p:xfrm>
        <a:graphic>
          <a:graphicData uri="http://schemas.openxmlformats.org/drawingml/2006/table">
            <a:tbl>
              <a:tblPr/>
              <a:tblGrid>
                <a:gridCol w="1280160"/>
                <a:gridCol w="8168040"/>
                <a:gridCol w="1463040"/>
              </a:tblGrid>
              <a:tr h="356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Módulo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Tema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Duração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1f3b"/>
                    </a:solidFill>
                  </a:tcPr>
                </a:tc>
              </a:tr>
              <a:tr h="356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</a:rPr>
                        <a:t>Pré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Pré-requisitos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</a:tr>
              <a:tr h="356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Aquecimento: Google Tools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25 min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6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Modelos de Linguagem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1h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</a:tr>
              <a:tr h="356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Harness: o corpo do agente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30 min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6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Coleta de Credenciais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20 min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</a:tr>
              <a:tr h="356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</a:rPr>
                        <a:t>5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Setup + Cobrinha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1h45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6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Almoço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1h30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</a:tr>
              <a:tr h="356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</a:rPr>
                        <a:t>6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Skills + /goal + /delegate_task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2h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6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</a:rPr>
                        <a:t>7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MCP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25 min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</a:tr>
              <a:tr h="356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Intervalo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10 min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6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</a:rPr>
                        <a:t>8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Autonomia: Cron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30 min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b"/>
                    </a:solidFill>
                  </a:tcPr>
                </a:tc>
              </a:tr>
              <a:tr h="356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</a:rPr>
                        <a:t>Fim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Fechamento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0223d"/>
                          </a:solidFill>
                          <a:latin typeface="Calibri"/>
                          <a:ea typeface="Calibri"/>
                        </a:rPr>
                        <a:t>15 min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9" name="Text 2"/>
          <p:cNvSpPr/>
          <p:nvPr/>
        </p:nvSpPr>
        <p:spPr>
          <a:xfrm>
            <a:off x="640080" y="6400800"/>
            <a:ext cx="1091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b6f8c"/>
                </a:solidFill>
                <a:latin typeface="Calibri"/>
                <a:ea typeface="Calibri"/>
              </a:rPr>
              <a:t>Total: ~7h10 de conteúdo · ~8h50 com intervalos (9h às 17h50)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2026-07-20T00:30:35Z</dcterms:created>
  <dc:creator>PptxGenJS</dc:creator>
  <dc:description/>
  <dc:language>en-US</dc:language>
  <cp:lastModifiedBy/>
  <dcterms:modified xsi:type="dcterms:W3CDTF">2026-07-19T21:36:15Z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(16:9)</vt:lpwstr>
  </property>
  <property fmtid="{D5CDD505-2E9C-101B-9397-08002B2CF9AE}" pid="4" name="Slides">
    <vt:i4>19</vt:i4>
  </property>
</Properties>
</file>